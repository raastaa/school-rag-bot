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d025f733f6427e" /><Relationship Type="http://schemas.openxmlformats.org/officeDocument/2006/relationships/extended-properties" Target="/docProps/app.xml" Id="R4995e16cd7684b5d" /><Relationship Type="http://schemas.openxmlformats.org/officeDocument/2006/relationships/officeDocument" Target="/ppt/presentation.xml" Id="R196a87d187214e7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f19e69b7d9347bf"/>
  </p:sldMasterIdLst>
  <p:notesMasterIdLst>
    <p:notesMasterId xmlns:r="http://schemas.openxmlformats.org/officeDocument/2006/relationships" r:id="R4de34243252f4e68"/>
  </p:notesMasterIdLst>
  <p:sldIdLst>
    <p:sldId xmlns:r="http://schemas.openxmlformats.org/officeDocument/2006/relationships" id="256" r:id="R9429dd45533143b2"/>
    <p:sldId xmlns:r="http://schemas.openxmlformats.org/officeDocument/2006/relationships" id="257" r:id="R0f09fac0cbff41f7"/>
    <p:sldId xmlns:r="http://schemas.openxmlformats.org/officeDocument/2006/relationships" id="258" r:id="Ra5f7963e3fbb4106"/>
    <p:sldId xmlns:r="http://schemas.openxmlformats.org/officeDocument/2006/relationships" id="259" r:id="R29a815dd00684871"/>
    <p:sldId xmlns:r="http://schemas.openxmlformats.org/officeDocument/2006/relationships" id="260" r:id="R9b3e7271c808407c"/>
    <p:sldId xmlns:r="http://schemas.openxmlformats.org/officeDocument/2006/relationships" id="261" r:id="Rbeaa391037c742aa"/>
    <p:sldId xmlns:r="http://schemas.openxmlformats.org/officeDocument/2006/relationships" id="262" r:id="R165f2a4c28704c6a"/>
    <p:sldId xmlns:r="http://schemas.openxmlformats.org/officeDocument/2006/relationships" id="263" r:id="Rda7730ca9a194f62"/>
    <p:sldId xmlns:r="http://schemas.openxmlformats.org/officeDocument/2006/relationships" id="264" r:id="R6f092b85ff5a4d33"/>
    <p:sldId xmlns:r="http://schemas.openxmlformats.org/officeDocument/2006/relationships" id="265" r:id="R8d9ea2cacabc459d"/>
    <p:sldId xmlns:r="http://schemas.openxmlformats.org/officeDocument/2006/relationships" id="266" r:id="Rcd5cd173eeba4728"/>
    <p:sldId xmlns:r="http://schemas.openxmlformats.org/officeDocument/2006/relationships" id="267" r:id="R8509f3325cb84292"/>
  </p:sldIdLst>
  <p:sldSz cx="18288000" cy="10287000"/>
  <p:notesSz cx="6858000" cy="9144000"/>
  <p:embeddedFontLst>
    <p:embeddedFont>
      <p:font typeface="IBM Plex Sans"/>
      <p:regular xmlns:r="http://schemas.openxmlformats.org/officeDocument/2006/relationships" r:id="Re6d78ca14d8f43a5"/>
      <p:bold xmlns:r="http://schemas.openxmlformats.org/officeDocument/2006/relationships" r:id="R85851acef59448b3"/>
      <p:italic xmlns:r="http://schemas.openxmlformats.org/officeDocument/2006/relationships" r:id="Rfbcc2e4f721a4ecf"/>
      <p:boldItalic xmlns:r="http://schemas.openxmlformats.org/officeDocument/2006/relationships" r:id="R4579d43db389431d"/>
    </p:embeddedFont>
    <p:embeddedFont>
      <p:font typeface="Montserrat SemiBold"/>
      <p:regular xmlns:r="http://schemas.openxmlformats.org/officeDocument/2006/relationships" r:id="Rb0f9dfac4b824720"/>
      <p:bold xmlns:r="http://schemas.openxmlformats.org/officeDocument/2006/relationships" r:id="Rfa2a3b7abd164118"/>
      <p:italic xmlns:r="http://schemas.openxmlformats.org/officeDocument/2006/relationships" r:id="R14dbe30133094804"/>
      <p:boldItalic xmlns:r="http://schemas.openxmlformats.org/officeDocument/2006/relationships" r:id="R837665bb5fc64d3c"/>
    </p:embeddedFont>
    <p:embeddedFont>
      <p:font typeface="IBM Plex Sans Light"/>
      <p:regular xmlns:r="http://schemas.openxmlformats.org/officeDocument/2006/relationships" r:id="R12f44d7dac6e4334"/>
      <p:bold xmlns:r="http://schemas.openxmlformats.org/officeDocument/2006/relationships" r:id="R4e6f5936f2784885"/>
      <p:italic xmlns:r="http://schemas.openxmlformats.org/officeDocument/2006/relationships" r:id="R5c0360fae939480d"/>
      <p:boldItalic xmlns:r="http://schemas.openxmlformats.org/officeDocument/2006/relationships" r:id="R84783fbe33aa4e65"/>
    </p:embeddedFont>
    <p:embeddedFont>
      <p:font typeface="Montserrat"/>
      <p:regular xmlns:r="http://schemas.openxmlformats.org/officeDocument/2006/relationships" r:id="R75b9ce9fe8104ac4"/>
      <p:bold xmlns:r="http://schemas.openxmlformats.org/officeDocument/2006/relationships" r:id="Rd8972981de264fe5"/>
      <p:italic xmlns:r="http://schemas.openxmlformats.org/officeDocument/2006/relationships" r:id="R5121e39f220e41d0"/>
      <p:boldItalic xmlns:r="http://schemas.openxmlformats.org/officeDocument/2006/relationships" r:id="R43012e1baa954d3b"/>
    </p:embeddedFont>
    <p:embeddedFont>
      <p:font typeface="IBM Plex Sans SemiBold"/>
      <p:regular xmlns:r="http://schemas.openxmlformats.org/officeDocument/2006/relationships" r:id="R578862810e02423d"/>
      <p:bold xmlns:r="http://schemas.openxmlformats.org/officeDocument/2006/relationships" r:id="Reee176c88ed14584"/>
      <p:italic xmlns:r="http://schemas.openxmlformats.org/officeDocument/2006/relationships" r:id="R43e509b6ef644faa"/>
      <p:boldItalic xmlns:r="http://schemas.openxmlformats.org/officeDocument/2006/relationships" r:id="R3c47d3bbd5e2492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cb00bf6a094457" /><Relationship Type="http://schemas.openxmlformats.org/officeDocument/2006/relationships/slideMaster" Target="/ppt/slideMasters/slideMaster1.xml" Id="R7f19e69b7d9347bf" /><Relationship Type="http://schemas.openxmlformats.org/officeDocument/2006/relationships/notesMaster" Target="/ppt/notesMasters/notesMaster1.xml" Id="R4de34243252f4e68" /><Relationship Type="http://schemas.openxmlformats.org/officeDocument/2006/relationships/presProps" Target="/ppt/presProps.xml" Id="R722caf0a60744543" /><Relationship Type="http://schemas.openxmlformats.org/officeDocument/2006/relationships/tableStyles" Target="/ppt/tableStyles.xml" Id="R4dd38c43aad84e16" /><Relationship Type="http://schemas.openxmlformats.org/officeDocument/2006/relationships/font" Target="/ppt/fonts/font.dat" Id="Re6d78ca14d8f43a5" /><Relationship Type="http://schemas.openxmlformats.org/officeDocument/2006/relationships/font" Target="/ppt/fonts/font2.dat" Id="R85851acef59448b3" /><Relationship Type="http://schemas.openxmlformats.org/officeDocument/2006/relationships/font" Target="/ppt/fonts/font3.dat" Id="Rfbcc2e4f721a4ecf" /><Relationship Type="http://schemas.openxmlformats.org/officeDocument/2006/relationships/font" Target="/ppt/fonts/font4.dat" Id="R4579d43db389431d" /><Relationship Type="http://schemas.openxmlformats.org/officeDocument/2006/relationships/font" Target="/ppt/fonts/font5.dat" Id="Rb0f9dfac4b824720" /><Relationship Type="http://schemas.openxmlformats.org/officeDocument/2006/relationships/font" Target="/ppt/fonts/font6.dat" Id="Rfa2a3b7abd164118" /><Relationship Type="http://schemas.openxmlformats.org/officeDocument/2006/relationships/font" Target="/ppt/fonts/font7.dat" Id="R14dbe30133094804" /><Relationship Type="http://schemas.openxmlformats.org/officeDocument/2006/relationships/font" Target="/ppt/fonts/font8.dat" Id="R837665bb5fc64d3c" /><Relationship Type="http://schemas.openxmlformats.org/officeDocument/2006/relationships/font" Target="/ppt/fonts/font9.dat" Id="R12f44d7dac6e4334" /><Relationship Type="http://schemas.openxmlformats.org/officeDocument/2006/relationships/font" Target="/ppt/fonts/font10.dat" Id="R4e6f5936f2784885" /><Relationship Type="http://schemas.openxmlformats.org/officeDocument/2006/relationships/font" Target="/ppt/fonts/font11.dat" Id="R5c0360fae939480d" /><Relationship Type="http://schemas.openxmlformats.org/officeDocument/2006/relationships/font" Target="/ppt/fonts/font12.dat" Id="R84783fbe33aa4e65" /><Relationship Type="http://schemas.openxmlformats.org/officeDocument/2006/relationships/font" Target="/ppt/fonts/font13.dat" Id="R75b9ce9fe8104ac4" /><Relationship Type="http://schemas.openxmlformats.org/officeDocument/2006/relationships/font" Target="/ppt/fonts/font14.dat" Id="Rd8972981de264fe5" /><Relationship Type="http://schemas.openxmlformats.org/officeDocument/2006/relationships/font" Target="/ppt/fonts/font15.dat" Id="R5121e39f220e41d0" /><Relationship Type="http://schemas.openxmlformats.org/officeDocument/2006/relationships/font" Target="/ppt/fonts/font16.dat" Id="R43012e1baa954d3b" /><Relationship Type="http://schemas.openxmlformats.org/officeDocument/2006/relationships/font" Target="/ppt/fonts/font17.dat" Id="R578862810e02423d" /><Relationship Type="http://schemas.openxmlformats.org/officeDocument/2006/relationships/font" Target="/ppt/fonts/font18.dat" Id="Reee176c88ed14584" /><Relationship Type="http://schemas.openxmlformats.org/officeDocument/2006/relationships/font" Target="/ppt/fonts/font19.dat" Id="R43e509b6ef644faa" /><Relationship Type="http://schemas.openxmlformats.org/officeDocument/2006/relationships/font" Target="/ppt/fonts/font20.dat" Id="R3c47d3bbd5e2492b" /><Relationship Type="http://schemas.openxmlformats.org/officeDocument/2006/relationships/slide" Target="/ppt/slides/slide1.xml" Id="R9429dd45533143b2" /><Relationship Type="http://schemas.openxmlformats.org/officeDocument/2006/relationships/slide" Target="/ppt/slides/slide2.xml" Id="R0f09fac0cbff41f7" /><Relationship Type="http://schemas.openxmlformats.org/officeDocument/2006/relationships/slide" Target="/ppt/slides/slide3.xml" Id="Ra5f7963e3fbb4106" /><Relationship Type="http://schemas.openxmlformats.org/officeDocument/2006/relationships/slide" Target="/ppt/slides/slide4.xml" Id="R29a815dd00684871" /><Relationship Type="http://schemas.openxmlformats.org/officeDocument/2006/relationships/slide" Target="/ppt/slides/slide5.xml" Id="R9b3e7271c808407c" /><Relationship Type="http://schemas.openxmlformats.org/officeDocument/2006/relationships/slide" Target="/ppt/slides/slide6.xml" Id="Rbeaa391037c742aa" /><Relationship Type="http://schemas.openxmlformats.org/officeDocument/2006/relationships/slide" Target="/ppt/slides/slide7.xml" Id="R165f2a4c28704c6a" /><Relationship Type="http://schemas.openxmlformats.org/officeDocument/2006/relationships/slide" Target="/ppt/slides/slide8.xml" Id="Rda7730ca9a194f62" /><Relationship Type="http://schemas.openxmlformats.org/officeDocument/2006/relationships/slide" Target="/ppt/slides/slide9.xml" Id="R6f092b85ff5a4d33" /><Relationship Type="http://schemas.openxmlformats.org/officeDocument/2006/relationships/slide" Target="/ppt/slides/slide10.xml" Id="R8d9ea2cacabc459d" /><Relationship Type="http://schemas.openxmlformats.org/officeDocument/2006/relationships/slide" Target="/ppt/slides/slide11.xml" Id="Rcd5cd173eeba4728" /><Relationship Type="http://schemas.openxmlformats.org/officeDocument/2006/relationships/slide" Target="/ppt/slides/slide12.xml" Id="R8509f3325cb842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32312d5da945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4c9522222f41de" /><Relationship Type="http://schemas.openxmlformats.org/officeDocument/2006/relationships/notesMaster" Target="/ppt/notesMasters/notesMaster1.xml" Id="R74e13159249241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7a542bc21b417b" /><Relationship Type="http://schemas.openxmlformats.org/officeDocument/2006/relationships/notesMaster" Target="/ppt/notesMasters/notesMaster1.xml" Id="R29376fcff68c49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20e2ab726f4a11" /><Relationship Type="http://schemas.openxmlformats.org/officeDocument/2006/relationships/notesMaster" Target="/ppt/notesMasters/notesMaster1.xml" Id="R8d4e98c4cc7d4f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0cd5c9cf054fb9" /><Relationship Type="http://schemas.openxmlformats.org/officeDocument/2006/relationships/notesMaster" Target="/ppt/notesMasters/notesMaster1.xml" Id="R6f099363e84944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a19e2194474a91" /><Relationship Type="http://schemas.openxmlformats.org/officeDocument/2006/relationships/notesMaster" Target="/ppt/notesMasters/notesMaster1.xml" Id="R42b2ae4b1ebf4a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37731944724c09" /><Relationship Type="http://schemas.openxmlformats.org/officeDocument/2006/relationships/notesMaster" Target="/ppt/notesMasters/notesMaster1.xml" Id="R207106ae06bb4f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e8cdd69e634344" /><Relationship Type="http://schemas.openxmlformats.org/officeDocument/2006/relationships/notesMaster" Target="/ppt/notesMasters/notesMaster1.xml" Id="R01e6ee02dbf341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7e977f52794643" /><Relationship Type="http://schemas.openxmlformats.org/officeDocument/2006/relationships/notesMaster" Target="/ppt/notesMasters/notesMaster1.xml" Id="Rcc35ef70db3641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76f98c598d41b9" /><Relationship Type="http://schemas.openxmlformats.org/officeDocument/2006/relationships/notesMaster" Target="/ppt/notesMasters/notesMaster1.xml" Id="R0c0da5c726104e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7c2aa1954244e8" /><Relationship Type="http://schemas.openxmlformats.org/officeDocument/2006/relationships/notesMaster" Target="/ppt/notesMasters/notesMaster1.xml" Id="R4854f9b186e449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b937f3c42c4ca8" /><Relationship Type="http://schemas.openxmlformats.org/officeDocument/2006/relationships/notesMaster" Target="/ppt/notesMasters/notesMaster1.xml" Id="Rd8be812eccc248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a650f350ce84e19" /><Relationship Type="http://schemas.openxmlformats.org/officeDocument/2006/relationships/notesMaster" Target="/ppt/notesMasters/notesMaster1.xml" Id="R299494e965af4c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Открыть выступление с практической задачей: ответ должен быть не только быстрым, но и проверяемым.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README.md — назначение проекта и реализованные требования.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Подчеркнуть: проект снижает время поиска и делает ответ проверяемым, но не заменяет юридическую экспертизу.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README.md — описание RAG-сервиса.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app/llm.py — правила системного промпта.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Обосновать чанкинг: маленькие фрагменты теряют контекст, слишком большие ухудшают точность. Перекрытие защищает смысл на границе.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embedding_benchmark_results.json — 2 документа, 547 чанков, chunk_size 1000, overlap 180.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data/seed/01_Kniga_direktora_Znanie.pdf; data/seed/02_Kniga_direktora_Zdorove.pdf.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Ключевой тезис: retrieval отвечает за доказательную базу, generation — за понятную формулировку.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app/service.py — upload_bytes, search и ask.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app/embeddings.py — подготовка query/passsage и нормализация эмбеддингов.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Не утверждать, что MiniLM плоха вообще: результат относится к выбранному русскоязычному корпусу.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embedding_benchmark_results.json — результаты трех моделей.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embedding_benchmark_results.csv — сводная таблица метрик.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Объяснить компромисс: E5 медленнее индексирует корпус, но качество поиска выше, а задержка запроса остается небольшой.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embedding_benchmark_results.json — selected_model intfloat/multilingual-e5-small.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Отдельно упомянуть защиту от дубликатов: SHA-256 зависит от содержимого, а не от имени файла.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app/document_processing.py — поддерживаемые форматы и split_pages.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app/service.py — валидация, SHA-256 и пакетная индексация.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Уточнить: без ключа включается extractive-fallback — воспроизводимый режим, который не добавляет внешних фактов.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app/llm.py — SYSTEM_PROMPT и три режима генерации.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app/models.py — схема AnswerResponse и SourceItem.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Показать интерфейс: загрузка слева, вопрос и ответ справа, под ответом — проверяемые источники.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app/main.py — FastAPI-эндпоинты.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app/models.py — Pydantic-модели.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templates/index.html — пользовательский интерфейс.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Объяснить hashing-backend в тестах: он нужен для быстрого офлайн-теста API, а benchmark и рабочая конфигурация используют E5.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tests/test_api.py — два тестовых сценария.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notebooks/School_Director_RAG_Taras_Metelsky.ipynb — выполненная исследовательская часть.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Назвать ограничения самостоятельно: это показывает понимание границ применимости, а не слабость проекта.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README.md — ограничения практического применения.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app/document_processing.py — обнаружение документов, требующих OCR.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Финальный тезис: прототип выполняет все обязательные сценарии и готов к расширению нормативной базы.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README.md — инструкция запуска и состав репозитория.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5efbfe1f8240b4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596b4c3c014be0" /><Relationship Type="http://schemas.openxmlformats.org/officeDocument/2006/relationships/slideLayout" Target="/ppt/slideLayouts/slideLayout1.xml" Id="Ra415a7a34ae74f8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15a7a34ae74f87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f7eccff884093" /><Relationship Type="http://schemas.openxmlformats.org/officeDocument/2006/relationships/image" Target="/ppt/media/image.png" Id="Re2b1d02d2b334a1a" /><Relationship Type="http://schemas.openxmlformats.org/officeDocument/2006/relationships/notesSlide" Target="/ppt/notesSlides/notesSlide1.xml" Id="R7b089edd80724f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fbdb5fdd74eb7" /><Relationship Type="http://schemas.openxmlformats.org/officeDocument/2006/relationships/image" Target="/ppt/media/image.jpeg" Id="R2616cd60b060478d" /><Relationship Type="http://schemas.openxmlformats.org/officeDocument/2006/relationships/notesSlide" Target="/ppt/notesSlides/notesSlide2.xml" Id="R6c12210d33774f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8545126d644ed" /><Relationship Type="http://schemas.openxmlformats.org/officeDocument/2006/relationships/image" Target="/ppt/media/image.jpeg" Id="R4a2413a888cb4a18" /><Relationship Type="http://schemas.openxmlformats.org/officeDocument/2006/relationships/image" Target="/ppt/media/image2.png" Id="R990eae734961496d" /><Relationship Type="http://schemas.openxmlformats.org/officeDocument/2006/relationships/notesSlide" Target="/ppt/notesSlides/notesSlide3.xml" Id="R80cda936a3e948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9fd65850f4d8d" /><Relationship Type="http://schemas.openxmlformats.org/officeDocument/2006/relationships/image" Target="/ppt/media/image.jpeg" Id="R468c3c3a4b734a28" /><Relationship Type="http://schemas.openxmlformats.org/officeDocument/2006/relationships/notesSlide" Target="/ppt/notesSlides/notesSlide4.xml" Id="R76c70c6ee59344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b24c9e01a476c" /><Relationship Type="http://schemas.openxmlformats.org/officeDocument/2006/relationships/image" Target="/ppt/media/image.jpeg" Id="R25e41da7c6a04e56" /><Relationship Type="http://schemas.openxmlformats.org/officeDocument/2006/relationships/image" Target="/ppt/media/image3.png" Id="R06fc48dba73e4e0d" /><Relationship Type="http://schemas.openxmlformats.org/officeDocument/2006/relationships/notesSlide" Target="/ppt/notesSlides/notesSlide5.xml" Id="Re822ab1f46434b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b81b9130a44bff" /><Relationship Type="http://schemas.openxmlformats.org/officeDocument/2006/relationships/image" Target="/ppt/media/image.jpeg" Id="R92ce503c96e440b4" /><Relationship Type="http://schemas.openxmlformats.org/officeDocument/2006/relationships/notesSlide" Target="/ppt/notesSlides/notesSlide6.xml" Id="R07f11d92fcb049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3f665bf2744e6" /><Relationship Type="http://schemas.openxmlformats.org/officeDocument/2006/relationships/image" Target="/ppt/media/image4.png" Id="R02da965a8e0649ea" /><Relationship Type="http://schemas.openxmlformats.org/officeDocument/2006/relationships/image" Target="/ppt/media/image5.png" Id="Rf295fb4aeda04d22" /><Relationship Type="http://schemas.openxmlformats.org/officeDocument/2006/relationships/image" Target="/ppt/media/image6.png" Id="R2f75336a3ff4408d" /><Relationship Type="http://schemas.openxmlformats.org/officeDocument/2006/relationships/image" Target="/ppt/media/image.jpeg" Id="Rf810a6efe8a749d5" /><Relationship Type="http://schemas.openxmlformats.org/officeDocument/2006/relationships/notesSlide" Target="/ppt/notesSlides/notesSlide7.xml" Id="R2952d648c0a24d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f80b2997764053" /><Relationship Type="http://schemas.openxmlformats.org/officeDocument/2006/relationships/image" Target="/ppt/media/image.jpeg" Id="R2a2e7cc283154b5e" /><Relationship Type="http://schemas.openxmlformats.org/officeDocument/2006/relationships/notesSlide" Target="/ppt/notesSlides/notesSlide8.xml" Id="R9330bb02fb1b48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7a95414a74a13" /><Relationship Type="http://schemas.openxmlformats.org/officeDocument/2006/relationships/image" Target="/ppt/media/image.jpeg" Id="R7a9f430ccb3a4048" /><Relationship Type="http://schemas.openxmlformats.org/officeDocument/2006/relationships/image" Target="/ppt/media/image7.png" Id="R19569cdec12140b0" /><Relationship Type="http://schemas.openxmlformats.org/officeDocument/2006/relationships/notesSlide" Target="/ppt/notesSlides/notesSlide9.xml" Id="R798cfe64adf54b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1c0d6cd6147aa" /><Relationship Type="http://schemas.openxmlformats.org/officeDocument/2006/relationships/image" Target="/ppt/media/image.jpeg" Id="Re1e5929550564469" /><Relationship Type="http://schemas.openxmlformats.org/officeDocument/2006/relationships/image" Target="/ppt/media/image8.png" Id="R22a4386ab0af4bcd" /><Relationship Type="http://schemas.openxmlformats.org/officeDocument/2006/relationships/notesSlide" Target="/ppt/notesSlides/notesSlide10.xml" Id="R76c940ddb2af4e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2bf78c8dd46a2" /><Relationship Type="http://schemas.openxmlformats.org/officeDocument/2006/relationships/image" Target="/ppt/media/image.jpeg" Id="R2f5236f18b0b4d45" /><Relationship Type="http://schemas.openxmlformats.org/officeDocument/2006/relationships/notesSlide" Target="/ppt/notesSlides/notesSlide11.xml" Id="R6e24fd40287649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a7527381042ec" /><Relationship Type="http://schemas.openxmlformats.org/officeDocument/2006/relationships/image" Target="/ppt/media/image.png" Id="Rbae2874b8d994a9e" /><Relationship Type="http://schemas.openxmlformats.org/officeDocument/2006/relationships/notesSlide" Target="/ppt/notesSlides/notesSlide12.xml" Id="R8adbaa3e40b04a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7E9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11C6A614-AFC9-41B6-9E73-085077B9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8439150" cy="9144000"/>
          </a:xfrm>
          <a:prstGeom xmlns:a="http://schemas.openxmlformats.org/drawingml/2006/main" prst="roundRect">
            <a:avLst>
              <a:gd name="adj" fmla="val 33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D4274E7C-295F-43D3-BC75-339F4F04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076325"/>
            <a:ext cx="6286500" cy="798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pic>
        <p:nvPicPr>
          <p:cNvPr id="20" name="Google Shape;14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b1d02d2b334a1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296400" y="571500"/>
            <a:ext cx="8439150" cy="9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" name="Google Shape;15;p1">
            <a:extLst xmlns:a="http://schemas.openxmlformats.org/drawingml/2006/main">
              <a:ext uri="{FF2B5EF4-FFF2-40B4-BE49-F238E27FC236}">
                <a16:creationId xmlns:a16="http://schemas.microsoft.com/office/drawing/2014/main" id="{0630A4AE-9AAC-427C-BA5B-0A9C17AC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6276975"/>
            <a:ext cx="6448425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6000"/>
              <a:buFont typeface="Montserrat SemiBold"/>
              <a:buNone/>
            </a:pPr>
            <a:r>
              <a:rPr sz="6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RAG ДЛЯ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6000"/>
              <a:buFont typeface="Montserrat SemiBold"/>
              <a:buNone/>
            </a:pPr>
            <a:r>
              <a:rPr sz="6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ДИРЕКТОРА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Google Shape;16;p1">
            <a:extLst xmlns:a="http://schemas.openxmlformats.org/drawingml/2006/main">
              <a:ext uri="{FF2B5EF4-FFF2-40B4-BE49-F238E27FC236}">
                <a16:creationId xmlns:a16="http://schemas.microsoft.com/office/drawing/2014/main" id="{2DB79C9F-E1E0-496C-979F-A50C4B96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8296275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IBM Plex Sans"/>
              <a:buNone/>
            </a:pPr>
            <a:r>
              <a:rPr sz="300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Ответы по нормативной базе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IBM Plex Sans"/>
              <a:buNone/>
            </a:pPr>
            <a:r>
              <a:rPr sz="300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Тарас Метельский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20824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2">
            <a:extLst xmlns:a="http://schemas.openxmlformats.org/drawingml/2006/main">
              <a:ext uri="{FF2B5EF4-FFF2-40B4-BE49-F238E27FC236}">
                <a16:creationId xmlns:a16="http://schemas.microsoft.com/office/drawing/2014/main" id="{21D21FC4-FAB9-42A8-8756-98E25819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9000"/>
            <a:ext cx="8439000" cy="81765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7E9F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Google Shape;23;p2">
            <a:extLst xmlns:a="http://schemas.openxmlformats.org/drawingml/2006/main">
              <a:ext uri="{FF2B5EF4-FFF2-40B4-BE49-F238E27FC236}">
                <a16:creationId xmlns:a16="http://schemas.microsoft.com/office/drawing/2014/main" id="{74AB33B7-CB27-455F-9113-73C1C3AD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39125"/>
            <a:ext cx="8439000" cy="81765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7E9F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Google Shape;24;p2">
            <a:extLst xmlns:a="http://schemas.openxmlformats.org/drawingml/2006/main">
              <a:ext uri="{FF2B5EF4-FFF2-40B4-BE49-F238E27FC236}">
                <a16:creationId xmlns:a16="http://schemas.microsoft.com/office/drawing/2014/main" id="{D69C6936-BA4E-401C-8BFC-4C3FA296F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ПРОБЛЕМА И ЦЕЛЬ ПРОЕКТА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Google Shape;25;p2">
            <a:extLst xmlns:a="http://schemas.openxmlformats.org/drawingml/2006/main">
              <a:ext uri="{FF2B5EF4-FFF2-40B4-BE49-F238E27FC236}">
                <a16:creationId xmlns:a16="http://schemas.microsoft.com/office/drawing/2014/main" id="{5814D32A-C61D-4305-AD3B-7FAEC26B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Проблема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Google Shape;26;p2">
            <a:extLst xmlns:a="http://schemas.openxmlformats.org/drawingml/2006/main">
              <a:ext uri="{FF2B5EF4-FFF2-40B4-BE49-F238E27FC236}">
                <a16:creationId xmlns:a16="http://schemas.microsoft.com/office/drawing/2014/main" id="{9EB283F5-8D24-4436-B07B-56555AC5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38400"/>
            <a:ext cx="7248525" cy="565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Нормативная база распределена по большим PDF и локальным документам.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Ручной поиск занимает время и зависит от точной формулировки запроса.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Обычная LLM может дать убедительный, но неподтвержденный ответ.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Google Shape;27;p2">
            <a:extLst xmlns:a="http://schemas.openxmlformats.org/drawingml/2006/main">
              <a:ext uri="{FF2B5EF4-FFF2-40B4-BE49-F238E27FC236}">
                <a16:creationId xmlns:a16="http://schemas.microsoft.com/office/drawing/2014/main" id="{38D19F3E-41C3-406E-AA60-9C0B7ADA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Цель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Google Shape;28;p2">
            <a:extLst xmlns:a="http://schemas.openxmlformats.org/drawingml/2006/main">
              <a:ext uri="{FF2B5EF4-FFF2-40B4-BE49-F238E27FC236}">
                <a16:creationId xmlns:a16="http://schemas.microsoft.com/office/drawing/2014/main" id="{2953B7B8-F540-4B95-B65C-3D1901D6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38400"/>
            <a:ext cx="7248525" cy="565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Создать веб-сервис, который: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принимает документы разных форматов;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находит релевантные фрагменты по смыслу;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формирует ответ только по найденному контексту;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возвращает документ, страницу и использованный чанк.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" name="Google Shape;29;p2">
            <a:extLst xmlns:a="http://schemas.openxmlformats.org/drawingml/2006/main">
              <a:ext uri="{FF2B5EF4-FFF2-40B4-BE49-F238E27FC236}">
                <a16:creationId xmlns:a16="http://schemas.microsoft.com/office/drawing/2014/main" id="{BFFA7805-6796-4FDA-B56F-78A71EF3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2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9" name="Google Shape;30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16cd60b060478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4131677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5">
            <a:extLst xmlns:a="http://schemas.openxmlformats.org/drawingml/2006/main">
              <a:ext uri="{FF2B5EF4-FFF2-40B4-BE49-F238E27FC236}">
                <a16:creationId xmlns:a16="http://schemas.microsoft.com/office/drawing/2014/main" id="{7CACDB24-892F-4B40-9EEB-5C90599A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ДВА ТОМА ДАЮТ 547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ПОИСКОВЫХ ЧАНКОВ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Google Shape;68;p5">
            <a:extLst xmlns:a="http://schemas.openxmlformats.org/drawingml/2006/main">
              <a:ext uri="{FF2B5EF4-FFF2-40B4-BE49-F238E27FC236}">
                <a16:creationId xmlns:a16="http://schemas.microsoft.com/office/drawing/2014/main" id="{A653DD9F-3EF3-47AD-B1C6-BC1227C3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9610725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Корпус — официальные методические материалы по качеству образования и здоровьесбережению. Текст разбит по страницам и смысловым фрагментам размером около 1000 символов с перекрытием 180.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9" name="Google Shape;69;p5">
            <a:extLst xmlns:a="http://schemas.openxmlformats.org/drawingml/2006/main">
              <a:ext uri="{FF2B5EF4-FFF2-40B4-BE49-F238E27FC236}">
                <a16:creationId xmlns:a16="http://schemas.microsoft.com/office/drawing/2014/main" id="{5D854AD9-BD3A-460C-A797-E7062F0E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218122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8FEB"/>
              </a:buClr>
              <a:buSzPts val="5625"/>
              <a:buFont typeface="Montserrat"/>
              <a:buNone/>
            </a:pPr>
            <a:r>
              <a:rPr sz="5625" b="1">
                <a:solidFill>
                  <a:srgbClr val="208FEB"/>
                </a:solidFill>
                <a:latin typeface="Montserrat"/>
                <a:ea typeface="Montserrat"/>
                <a:cs typeface="Montserrat"/>
              </a:rPr>
              <a:t>2</a:t>
            </a:r>
            <a:endParaRPr sz="562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Google Shape;70;p5">
            <a:extLst xmlns:a="http://schemas.openxmlformats.org/drawingml/2006/main">
              <a:ext uri="{FF2B5EF4-FFF2-40B4-BE49-F238E27FC236}">
                <a16:creationId xmlns:a16="http://schemas.microsoft.com/office/drawing/2014/main" id="{7A92B7AF-F74D-4A15-A716-ADC4BEF1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3038475"/>
            <a:ext cx="2447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официальных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документа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" name="Google Shape;71;p5">
            <a:extLst xmlns:a="http://schemas.openxmlformats.org/drawingml/2006/main">
              <a:ext uri="{FF2B5EF4-FFF2-40B4-BE49-F238E27FC236}">
                <a16:creationId xmlns:a16="http://schemas.microsoft.com/office/drawing/2014/main" id="{D52965A3-3F3D-4EE8-8DF7-B69C889F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218122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8FEB"/>
              </a:buClr>
              <a:buSzPts val="5625"/>
              <a:buFont typeface="Montserrat"/>
              <a:buNone/>
            </a:pPr>
            <a:r>
              <a:rPr sz="5625" b="1">
                <a:solidFill>
                  <a:srgbClr val="208FEB"/>
                </a:solidFill>
                <a:latin typeface="Montserrat"/>
                <a:ea typeface="Montserrat"/>
                <a:cs typeface="Montserrat"/>
              </a:rPr>
              <a:t>547</a:t>
            </a:r>
            <a:endParaRPr sz="562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2" name="Google Shape;72;p5">
            <a:extLst xmlns:a="http://schemas.openxmlformats.org/drawingml/2006/main">
              <a:ext uri="{FF2B5EF4-FFF2-40B4-BE49-F238E27FC236}">
                <a16:creationId xmlns:a16="http://schemas.microsoft.com/office/drawing/2014/main" id="{89539A94-21F1-41A2-B0F0-17B447A4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3038475"/>
            <a:ext cx="2447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поисковых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чанков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Google Shape;73;p5">
            <a:extLst xmlns:a="http://schemas.openxmlformats.org/drawingml/2006/main">
              <a:ext uri="{FF2B5EF4-FFF2-40B4-BE49-F238E27FC236}">
                <a16:creationId xmlns:a16="http://schemas.microsoft.com/office/drawing/2014/main" id="{F4C133CB-E6CD-44FD-A8A0-23EC08FD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3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4" name="Google Shape;7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2413a888cb4a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0eae734961496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71500" y="4619625"/>
            <a:ext cx="17164050" cy="5095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08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7E9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3">
            <a:extLst xmlns:a="http://schemas.openxmlformats.org/drawingml/2006/main">
              <a:ext uri="{FF2B5EF4-FFF2-40B4-BE49-F238E27FC236}">
                <a16:creationId xmlns:a16="http://schemas.microsoft.com/office/drawing/2014/main" id="{6FF3246F-B0AD-4D09-B167-B6692E13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7425"/>
            <a:ext cx="8439000" cy="82182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" name="Google Shape;37;p3">
            <a:extLst xmlns:a="http://schemas.openxmlformats.org/drawingml/2006/main">
              <a:ext uri="{FF2B5EF4-FFF2-40B4-BE49-F238E27FC236}">
                <a16:creationId xmlns:a16="http://schemas.microsoft.com/office/drawing/2014/main" id="{117CD5EC-F1CA-4B85-8223-25FB0FD9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97425"/>
            <a:ext cx="8439000" cy="3855600"/>
          </a:xfrm>
          <a:prstGeom xmlns:a="http://schemas.openxmlformats.org/drawingml/2006/main" prst="roundRect">
            <a:avLst>
              <a:gd name="adj" fmla="val 70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Google Shape;38;p3">
            <a:extLst xmlns:a="http://schemas.openxmlformats.org/drawingml/2006/main">
              <a:ext uri="{FF2B5EF4-FFF2-40B4-BE49-F238E27FC236}">
                <a16:creationId xmlns:a16="http://schemas.microsoft.com/office/drawing/2014/main" id="{3E056AB6-B5C0-4BC0-BCE1-99788348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38800"/>
            <a:ext cx="8439150" cy="4067175"/>
          </a:xfrm>
          <a:prstGeom xmlns:a="http://schemas.openxmlformats.org/drawingml/2006/main" prst="roundRect">
            <a:avLst>
              <a:gd name="adj" fmla="val 70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" name="Google Shape;39;p3">
            <a:extLst xmlns:a="http://schemas.openxmlformats.org/drawingml/2006/main">
              <a:ext uri="{FF2B5EF4-FFF2-40B4-BE49-F238E27FC236}">
                <a16:creationId xmlns:a16="http://schemas.microsoft.com/office/drawing/2014/main" id="{A3DA1B8B-6EE3-467C-9635-B36F2D15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КАК РАБОТАЕТ RAG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Google Shape;40;p3">
            <a:extLst xmlns:a="http://schemas.openxmlformats.org/drawingml/2006/main">
              <a:ext uri="{FF2B5EF4-FFF2-40B4-BE49-F238E27FC236}">
                <a16:creationId xmlns:a16="http://schemas.microsoft.com/office/drawing/2014/main" id="{A4D06341-2252-45D1-BA9E-0BE05A76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Последовательность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" name="Google Shape;41;p3">
            <a:extLst xmlns:a="http://schemas.openxmlformats.org/drawingml/2006/main">
              <a:ext uri="{FF2B5EF4-FFF2-40B4-BE49-F238E27FC236}">
                <a16:creationId xmlns:a16="http://schemas.microsoft.com/office/drawing/2014/main" id="{31FC1D1D-B800-4885-9E46-3598A7E3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38400"/>
            <a:ext cx="7248525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1. Проверка файла.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2. Извлечение текста.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3. Чанкинг и индексация в ChromaDB.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2" name="Google Shape;42;p3">
            <a:extLst xmlns:a="http://schemas.openxmlformats.org/drawingml/2006/main">
              <a:ext uri="{FF2B5EF4-FFF2-40B4-BE49-F238E27FC236}">
                <a16:creationId xmlns:a16="http://schemas.microsoft.com/office/drawing/2014/main" id="{5A93817F-A99B-427C-9D19-1B051412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943600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Поиск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" name="Google Shape;43;p3">
            <a:extLst xmlns:a="http://schemas.openxmlformats.org/drawingml/2006/main">
              <a:ext uri="{FF2B5EF4-FFF2-40B4-BE49-F238E27FC236}">
                <a16:creationId xmlns:a16="http://schemas.microsoft.com/office/drawing/2014/main" id="{E1830F8A-69A8-4FE3-BD51-DC13290A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753225"/>
            <a:ext cx="7248525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После индексации вопрос и чанки сравниваются по косинусной близости. Поиск учитывает смысл, а не только совпадение слов.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4" name="Google Shape;44;p3">
            <a:extLst xmlns:a="http://schemas.openxmlformats.org/drawingml/2006/main">
              <a:ext uri="{FF2B5EF4-FFF2-40B4-BE49-F238E27FC236}">
                <a16:creationId xmlns:a16="http://schemas.microsoft.com/office/drawing/2014/main" id="{4E3CF45B-5E44-44A0-9D82-2B0EAA9B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Генерация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Google Shape;45;p3">
            <a:extLst xmlns:a="http://schemas.openxmlformats.org/drawingml/2006/main">
              <a:ext uri="{FF2B5EF4-FFF2-40B4-BE49-F238E27FC236}">
                <a16:creationId xmlns:a16="http://schemas.microsoft.com/office/drawing/2014/main" id="{48C29116-5B9E-4822-9AC7-187B980F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38400"/>
            <a:ext cx="7248525" cy="565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LLM получает только отобранный контекст и возвращает ответ со ссылками на источники.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6" name="Google Shape;46;p3">
            <a:extLst xmlns:a="http://schemas.openxmlformats.org/drawingml/2006/main">
              <a:ext uri="{FF2B5EF4-FFF2-40B4-BE49-F238E27FC236}">
                <a16:creationId xmlns:a16="http://schemas.microsoft.com/office/drawing/2014/main" id="{BCA51F49-F380-4D0E-9DCF-BF636456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4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9" name="Google Shape;47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8c3c3a4b734a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296380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7">
            <a:extLst xmlns:a="http://schemas.openxmlformats.org/drawingml/2006/main">
              <a:ext uri="{FF2B5EF4-FFF2-40B4-BE49-F238E27FC236}">
                <a16:creationId xmlns:a16="http://schemas.microsoft.com/office/drawing/2014/main" id="{21CC7897-3C38-442F-8D24-6446E26E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E5 ЛУЧШЕ ИЩЕТ ПО-РУССКИ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7" name="Google Shape;97;p7">
            <a:extLst xmlns:a="http://schemas.openxmlformats.org/drawingml/2006/main">
              <a:ext uri="{FF2B5EF4-FFF2-40B4-BE49-F238E27FC236}">
                <a16:creationId xmlns:a16="http://schemas.microsoft.com/office/drawing/2014/main" id="{AF664470-B4E6-4A7B-B9F7-11B8327F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9610725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Три модели сравнивались на одинаковых 547 чанках и 10 вручную размеченных вопросах. Правило выбора: максимальный Hit@3, затем MRR, затем задержка запроса.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8" name="Google Shape;98;p7">
            <a:extLst xmlns:a="http://schemas.openxmlformats.org/drawingml/2006/main">
              <a:ext uri="{FF2B5EF4-FFF2-40B4-BE49-F238E27FC236}">
                <a16:creationId xmlns:a16="http://schemas.microsoft.com/office/drawing/2014/main" id="{B6200F16-6065-4D52-9388-E8A71515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223837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8FEB"/>
              </a:buClr>
              <a:buSzPts val="5625"/>
              <a:buFont typeface="Montserrat"/>
              <a:buNone/>
            </a:pPr>
            <a:r>
              <a:rPr sz="5625" b="1">
                <a:solidFill>
                  <a:srgbClr val="208FEB"/>
                </a:solidFill>
                <a:latin typeface="Montserrat"/>
                <a:ea typeface="Montserrat"/>
                <a:cs typeface="Montserrat"/>
              </a:rPr>
              <a:t>0,90</a:t>
            </a:r>
            <a:endParaRPr sz="562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D727DF59-B9E2-424B-9E4A-2D8DCC37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3095625"/>
            <a:ext cx="2447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Hit@3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лучшей модели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F62F49E0-EB8C-4721-9F21-4367368A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2238375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8FEB"/>
              </a:buClr>
              <a:buSzPts val="5625"/>
              <a:buFont typeface="Montserrat"/>
              <a:buNone/>
            </a:pPr>
            <a:r>
              <a:rPr sz="5625" b="1">
                <a:solidFill>
                  <a:srgbClr val="208FEB"/>
                </a:solidFill>
                <a:latin typeface="Montserrat"/>
                <a:ea typeface="Montserrat"/>
                <a:cs typeface="Montserrat"/>
              </a:rPr>
              <a:t>0,85</a:t>
            </a:r>
            <a:endParaRPr sz="562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5339E2F7-87DB-4508-92CC-DDDD690A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3095625"/>
            <a:ext cx="2447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MRR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лучшей модели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39AD39A2-E16B-45B5-BBC6-9B4F64CC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366212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8C97CB3E-2EA8-45BC-8C00-3FF979EC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93570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A704C1CA-75DA-4CEA-84DF-E41708F8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420929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DF97D0E3-6C6F-48CA-8AB6-76705D52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948292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45AC42B8-4E9C-494C-82CF-3BCC082A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7475646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9694A76F-D7F1-4B5C-9202-44CD8B7A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8003009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9A897769-EF6E-4465-9568-6C7AF035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8530363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A9DD7D56-0610-42F3-AC3D-8E3E397D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9057726"/>
            <a:ext cx="98278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14699741-EC74-4014-A9F7-E25B460D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9474426"/>
            <a:ext cx="2249414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100EB1F2-07AD-4277-9065-C9CD5D51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9474426"/>
            <a:ext cx="2249414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2" name="Google Shape;112;p7">
            <a:extLst xmlns:a="http://schemas.openxmlformats.org/drawingml/2006/main">
              <a:ext uri="{FF2B5EF4-FFF2-40B4-BE49-F238E27FC236}">
                <a16:creationId xmlns:a16="http://schemas.microsoft.com/office/drawing/2014/main" id="{503CB77F-2859-401E-8346-DC380329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9474426"/>
            <a:ext cx="22494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3" name="Google Shape;113;p7">
            <a:extLst xmlns:a="http://schemas.openxmlformats.org/drawingml/2006/main">
              <a:ext uri="{FF2B5EF4-FFF2-40B4-BE49-F238E27FC236}">
                <a16:creationId xmlns:a16="http://schemas.microsoft.com/office/drawing/2014/main" id="{1888E1CF-C269-45AB-8A34-32D50756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9474426"/>
            <a:ext cx="22494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4" name="Google Shape;114;p7">
            <a:extLst xmlns:a="http://schemas.openxmlformats.org/drawingml/2006/main">
              <a:ext uri="{FF2B5EF4-FFF2-40B4-BE49-F238E27FC236}">
                <a16:creationId xmlns:a16="http://schemas.microsoft.com/office/drawing/2014/main" id="{FBEEADA2-2540-4FEB-A800-03D1D007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9474426"/>
            <a:ext cx="22494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5" name="Google Shape;115;p7">
            <a:extLst xmlns:a="http://schemas.openxmlformats.org/drawingml/2006/main">
              <a:ext uri="{FF2B5EF4-FFF2-40B4-BE49-F238E27FC236}">
                <a16:creationId xmlns:a16="http://schemas.microsoft.com/office/drawing/2014/main" id="{2288C8BE-BCF0-4279-8F52-39AECB14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3075" y="9474426"/>
            <a:ext cx="22494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6" name="Google Shape;116;p7">
            <a:extLst xmlns:a="http://schemas.openxmlformats.org/drawingml/2006/main">
              <a:ext uri="{FF2B5EF4-FFF2-40B4-BE49-F238E27FC236}">
                <a16:creationId xmlns:a16="http://schemas.microsoft.com/office/drawing/2014/main" id="{88973ECD-160B-414C-A39E-A6ADDCCB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7175" y="9474426"/>
            <a:ext cx="2249413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1518"/>
              <a:buFont typeface="IBM Plex Sans"/>
              <a:buNone/>
            </a:pPr>
            <a:r>
              <a:rPr sz="1518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1518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7" name="Google Shape;117;p7">
            <a:extLst xmlns:a="http://schemas.openxmlformats.org/drawingml/2006/main">
              <a:ext uri="{FF2B5EF4-FFF2-40B4-BE49-F238E27FC236}">
                <a16:creationId xmlns:a16="http://schemas.microsoft.com/office/drawing/2014/main" id="{62BE0BEE-796C-4889-868D-239E1E7E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5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43" name="Google Shape;118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e41da7c6a04e5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c48dba73e4e0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81025" y="5366212"/>
            <a:ext cx="17154525" cy="43368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170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Google Shape;156;p10">
            <a:extLst xmlns:a="http://schemas.openxmlformats.org/drawingml/2006/main">
              <a:ext uri="{FF2B5EF4-FFF2-40B4-BE49-F238E27FC236}">
                <a16:creationId xmlns:a16="http://schemas.microsoft.com/office/drawing/2014/main" id="{C154857F-421C-4DA2-B097-11EDDD71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57" name="Google Shape;157;p10">
            <a:extLst xmlns:a="http://schemas.openxmlformats.org/drawingml/2006/main">
              <a:ext uri="{FF2B5EF4-FFF2-40B4-BE49-F238E27FC236}">
                <a16:creationId xmlns:a16="http://schemas.microsoft.com/office/drawing/2014/main" id="{AAA0FE4A-4FFA-4B70-8083-74031B29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17164050" cy="75438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FFFFFF">
              <a:alpha val="6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8" name="Google Shape;158;p10">
            <a:extLst xmlns:a="http://schemas.openxmlformats.org/drawingml/2006/main">
              <a:ext uri="{FF2B5EF4-FFF2-40B4-BE49-F238E27FC236}">
                <a16:creationId xmlns:a16="http://schemas.microsoft.com/office/drawing/2014/main" id="{64A358A5-4248-4A59-B719-5FC79D88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514600"/>
            <a:ext cx="13582650" cy="445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D29"/>
              </a:buClr>
              <a:buSzPts val="4875"/>
              <a:buFont typeface="Montserrat SemiBold"/>
              <a:buNone/>
            </a:pPr>
            <a:r>
              <a:rPr sz="4875">
                <a:solidFill>
                  <a:srgbClr val="1B1D29"/>
                </a:solidFill>
                <a:latin typeface="Montserrat SemiBold"/>
                <a:ea typeface="Montserrat SemiBold"/>
                <a:cs typeface="Montserrat SemiBold"/>
              </a:rPr>
              <a:t>E5 НАШЛА ПРАВИЛЬНУЮ СТРАНИЦУ В TOP-3 ДЛЯ 9 ИЗ 10 ВОПРОСОВ</a:t>
            </a:r>
            <a:endParaRPr sz="487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9" name="Google Shape;159;p10">
            <a:extLst xmlns:a="http://schemas.openxmlformats.org/drawingml/2006/main">
              <a:ext uri="{FF2B5EF4-FFF2-40B4-BE49-F238E27FC236}">
                <a16:creationId xmlns:a16="http://schemas.microsoft.com/office/drawing/2014/main" id="{9EF4AE7A-6088-42FF-80F3-60E394C4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258050"/>
            <a:ext cx="633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3375"/>
              <a:buFont typeface="IBM Plex Sans"/>
              <a:buNone/>
            </a:pPr>
            <a:r>
              <a:rPr sz="3375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Hit@3 0,90 · MRR 0,85 · средний запрос 18 мс</a:t>
            </a:r>
            <a:endParaRPr sz="337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0" name="Google Shape;160;p10">
            <a:extLst xmlns:a="http://schemas.openxmlformats.org/drawingml/2006/main">
              <a:ext uri="{FF2B5EF4-FFF2-40B4-BE49-F238E27FC236}">
                <a16:creationId xmlns:a16="http://schemas.microsoft.com/office/drawing/2014/main" id="{02E8B604-C32C-48C5-975F-CDBF2635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6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7" name="Google Shape;161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ce503c96e440b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5214376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7E9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5" name="Google Shape;124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da965a8e0649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1895475"/>
            <a:ext cx="9591675" cy="1533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6" name="Google Shape;125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95fb4aeda04d2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3714750"/>
            <a:ext cx="9591675" cy="1543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7" name="Google Shape;126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95fb4aeda04d2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5543550"/>
            <a:ext cx="9591675" cy="1543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8" name="Google Shape;12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da965a8e0649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7372350"/>
            <a:ext cx="9591675" cy="1533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28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75336a3ff4408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991850" y="1587063"/>
            <a:ext cx="6743700" cy="812843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9" name="Google Shape;129;p8">
            <a:extLst xmlns:a="http://schemas.openxmlformats.org/drawingml/2006/main">
              <a:ext uri="{FF2B5EF4-FFF2-40B4-BE49-F238E27FC236}">
                <a16:creationId xmlns:a16="http://schemas.microsoft.com/office/drawing/2014/main" id="{5793FAED-D9FE-4494-AB25-5FE1327F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1519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ЧЕТЫРЕ ШАГА ДО ВЕКТОРНОЙ БАЗЫ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0" name="Google Shape;130;p8">
            <a:extLst xmlns:a="http://schemas.openxmlformats.org/drawingml/2006/main">
              <a:ext uri="{FF2B5EF4-FFF2-40B4-BE49-F238E27FC236}">
                <a16:creationId xmlns:a16="http://schemas.microsoft.com/office/drawing/2014/main" id="{60086F07-6753-41D2-BFBD-B5062CAB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03755"/>
            <a:ext cx="68199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Проверить расширение, размер до 30 МБ и SHA-256; отклонить пустой файл или дубликат.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1" name="Google Shape;131;p8">
            <a:extLst xmlns:a="http://schemas.openxmlformats.org/drawingml/2006/main">
              <a:ext uri="{FF2B5EF4-FFF2-40B4-BE49-F238E27FC236}">
                <a16:creationId xmlns:a16="http://schemas.microsoft.com/office/drawing/2014/main" id="{6B00EDC7-C7E1-4D8F-98BD-8AF3E4F7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95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489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5813"/>
              <a:buFont typeface="IBM Plex Sans Light"/>
              <a:buNone/>
            </a:pPr>
            <a:r>
              <a:rPr sz="5813">
                <a:solidFill>
                  <a:srgbClr val="979CB9"/>
                </a:solidFill>
                <a:latin typeface="IBM Plex Sans Light"/>
                <a:ea typeface="IBM Plex Sans Light"/>
                <a:cs typeface="IBM Plex Sans Light"/>
              </a:rPr>
              <a:t>1</a:t>
            </a:r>
            <a:endParaRPr sz="5813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2" name="Google Shape;132;p8">
            <a:extLst xmlns:a="http://schemas.openxmlformats.org/drawingml/2006/main">
              <a:ext uri="{FF2B5EF4-FFF2-40B4-BE49-F238E27FC236}">
                <a16:creationId xmlns:a16="http://schemas.microsoft.com/office/drawing/2014/main" id="{6AFA4A6A-75B2-49EB-BDC3-D8B42059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324350"/>
            <a:ext cx="7353300" cy="412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Извлечь текст из PDF, DOCX, TXT, MD или CSV и сохранить номера страниц.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3" name="Google Shape;133;p8">
            <a:extLst xmlns:a="http://schemas.openxmlformats.org/drawingml/2006/main">
              <a:ext uri="{FF2B5EF4-FFF2-40B4-BE49-F238E27FC236}">
                <a16:creationId xmlns:a16="http://schemas.microsoft.com/office/drawing/2014/main" id="{EECC76FC-B947-4922-80F5-B1D70687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76700"/>
            <a:ext cx="495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489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5813"/>
              <a:buFont typeface="IBM Plex Sans Light"/>
              <a:buNone/>
            </a:pPr>
            <a:r>
              <a:rPr sz="5813">
                <a:solidFill>
                  <a:srgbClr val="979CB9"/>
                </a:solidFill>
                <a:latin typeface="IBM Plex Sans Light"/>
                <a:ea typeface="IBM Plex Sans Light"/>
                <a:cs typeface="IBM Plex Sans Light"/>
              </a:rPr>
              <a:t>2</a:t>
            </a:r>
            <a:endParaRPr sz="5813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4" name="Google Shape;134;p8">
            <a:extLst xmlns:a="http://schemas.openxmlformats.org/drawingml/2006/main">
              <a:ext uri="{FF2B5EF4-FFF2-40B4-BE49-F238E27FC236}">
                <a16:creationId xmlns:a16="http://schemas.microsoft.com/office/drawing/2014/main" id="{2392DB91-B374-4887-9FF8-C0DAA06C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711825"/>
            <a:ext cx="7248525" cy="1184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Разбить текст на смысловые чанки около 1000 символов с перекрытием 180.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5" name="Google Shape;135;p8">
            <a:extLst xmlns:a="http://schemas.openxmlformats.org/drawingml/2006/main">
              <a:ext uri="{FF2B5EF4-FFF2-40B4-BE49-F238E27FC236}">
                <a16:creationId xmlns:a16="http://schemas.microsoft.com/office/drawing/2014/main" id="{C1359622-ACB8-45ED-A4EE-6C52D361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05500"/>
            <a:ext cx="495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489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5813"/>
              <a:buFont typeface="IBM Plex Sans Light"/>
              <a:buNone/>
            </a:pPr>
            <a:r>
              <a:rPr sz="5813">
                <a:solidFill>
                  <a:srgbClr val="979CB9"/>
                </a:solidFill>
                <a:latin typeface="IBM Plex Sans Light"/>
                <a:ea typeface="IBM Plex Sans Light"/>
                <a:cs typeface="IBM Plex Sans Light"/>
              </a:rPr>
              <a:t>3</a:t>
            </a:r>
            <a:endParaRPr sz="5813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6" name="Google Shape;136;p8">
            <a:extLst xmlns:a="http://schemas.openxmlformats.org/drawingml/2006/main">
              <a:ext uri="{FF2B5EF4-FFF2-40B4-BE49-F238E27FC236}">
                <a16:creationId xmlns:a16="http://schemas.microsoft.com/office/drawing/2014/main" id="{F976C2D5-8AAC-4CF8-94C2-A6C296D2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7781924"/>
            <a:ext cx="63436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Получить эмбеддинги E5 и пакетами записать текст, векторы и метаданные в ChromaDB.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C5358670-128B-4C93-9686-625A5EEC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24775"/>
            <a:ext cx="495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489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5813"/>
              <a:buFont typeface="IBM Plex Sans Light"/>
              <a:buNone/>
            </a:pPr>
            <a:r>
              <a:rPr sz="5813">
                <a:solidFill>
                  <a:srgbClr val="979CB9"/>
                </a:solidFill>
                <a:latin typeface="IBM Plex Sans Light"/>
                <a:ea typeface="IBM Plex Sans Light"/>
                <a:cs typeface="IBM Plex Sans Light"/>
              </a:rPr>
              <a:t>4</a:t>
            </a:r>
            <a:endParaRPr sz="5813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1A15EF66-D1F9-42D8-BF0E-7BF82124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7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0" name="Google Shape;139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10a6efe8a749d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4961861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9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3">
            <a:extLst xmlns:a="http://schemas.openxmlformats.org/drawingml/2006/main">
              <a:ext uri="{FF2B5EF4-FFF2-40B4-BE49-F238E27FC236}">
                <a16:creationId xmlns:a16="http://schemas.microsoft.com/office/drawing/2014/main" id="{6FF3246F-B0AD-4D09-B167-B6692E13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7425"/>
            <a:ext cx="8439000" cy="82182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" name="Google Shape;37;p3">
            <a:extLst xmlns:a="http://schemas.openxmlformats.org/drawingml/2006/main">
              <a:ext uri="{FF2B5EF4-FFF2-40B4-BE49-F238E27FC236}">
                <a16:creationId xmlns:a16="http://schemas.microsoft.com/office/drawing/2014/main" id="{117CD5EC-F1CA-4B85-8223-25FB0FD9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97425"/>
            <a:ext cx="8439000" cy="3855600"/>
          </a:xfrm>
          <a:prstGeom xmlns:a="http://schemas.openxmlformats.org/drawingml/2006/main" prst="roundRect">
            <a:avLst>
              <a:gd name="adj" fmla="val 70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Google Shape;38;p3">
            <a:extLst xmlns:a="http://schemas.openxmlformats.org/drawingml/2006/main">
              <a:ext uri="{FF2B5EF4-FFF2-40B4-BE49-F238E27FC236}">
                <a16:creationId xmlns:a16="http://schemas.microsoft.com/office/drawing/2014/main" id="{3E056AB6-B5C0-4BC0-BCE1-99788348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38800"/>
            <a:ext cx="8439150" cy="4067175"/>
          </a:xfrm>
          <a:prstGeom xmlns:a="http://schemas.openxmlformats.org/drawingml/2006/main" prst="roundRect">
            <a:avLst>
              <a:gd name="adj" fmla="val 70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9" name="Google Shape;39;p3">
            <a:extLst xmlns:a="http://schemas.openxmlformats.org/drawingml/2006/main">
              <a:ext uri="{FF2B5EF4-FFF2-40B4-BE49-F238E27FC236}">
                <a16:creationId xmlns:a16="http://schemas.microsoft.com/office/drawing/2014/main" id="{A3DA1B8B-6EE3-467C-9635-B36F2D15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ОТ ПОИСКА К ОТВЕТУ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Google Shape;40;p3">
            <a:extLst xmlns:a="http://schemas.openxmlformats.org/drawingml/2006/main">
              <a:ext uri="{FF2B5EF4-FFF2-40B4-BE49-F238E27FC236}">
                <a16:creationId xmlns:a16="http://schemas.microsoft.com/office/drawing/2014/main" id="{A4D06341-2252-45D1-BA9E-0BE05A76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ChromaDB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" name="Google Shape;41;p3">
            <a:extLst xmlns:a="http://schemas.openxmlformats.org/drawingml/2006/main">
              <a:ext uri="{FF2B5EF4-FFF2-40B4-BE49-F238E27FC236}">
                <a16:creationId xmlns:a16="http://schemas.microsoft.com/office/drawing/2014/main" id="{31FC1D1D-B800-4885-9E46-3598A7E3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38400"/>
            <a:ext cx="7248525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Для каждого чанка хранятся текст, эмбеддинг, document_id, имя файла, номер страницы, номер чанка и дата загрузки.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Вопрос кодируется той же моделью, а база возвращает ближайшие фрагменты.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2" name="Google Shape;42;p3">
            <a:extLst xmlns:a="http://schemas.openxmlformats.org/drawingml/2006/main">
              <a:ext uri="{FF2B5EF4-FFF2-40B4-BE49-F238E27FC236}">
                <a16:creationId xmlns:a16="http://schemas.microsoft.com/office/drawing/2014/main" id="{5A93817F-A99B-427C-9D19-1B051412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943600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LLM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" name="Google Shape;43;p3">
            <a:extLst xmlns:a="http://schemas.openxmlformats.org/drawingml/2006/main">
              <a:ext uri="{FF2B5EF4-FFF2-40B4-BE49-F238E27FC236}">
                <a16:creationId xmlns:a16="http://schemas.microsoft.com/office/drawing/2014/main" id="{E1830F8A-69A8-4FE3-BD51-DC13290A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753225"/>
            <a:ext cx="7248525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Поддерживаются OpenAI-совместимый API и Ollama. Температура 0,1 снижает вариативность нормативного ответа.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4" name="Google Shape;44;p3">
            <a:extLst xmlns:a="http://schemas.openxmlformats.org/drawingml/2006/main">
              <a:ext uri="{FF2B5EF4-FFF2-40B4-BE49-F238E27FC236}">
                <a16:creationId xmlns:a16="http://schemas.microsoft.com/office/drawing/2014/main" id="{4E3CF45B-5E44-44A0-9D82-2B0EAA9B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Источники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5" name="Google Shape;45;p3">
            <a:extLst xmlns:a="http://schemas.openxmlformats.org/drawingml/2006/main">
              <a:ext uri="{FF2B5EF4-FFF2-40B4-BE49-F238E27FC236}">
                <a16:creationId xmlns:a16="http://schemas.microsoft.com/office/drawing/2014/main" id="{48C29116-5B9E-4822-9AC7-187B980F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38400"/>
            <a:ext cx="7248525" cy="565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API возвращает ответ, статус, провайдера и полный список использованных чанков с документом, страницей и score.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6" name="Google Shape;46;p3">
            <a:extLst xmlns:a="http://schemas.openxmlformats.org/drawingml/2006/main">
              <a:ext uri="{FF2B5EF4-FFF2-40B4-BE49-F238E27FC236}">
                <a16:creationId xmlns:a16="http://schemas.microsoft.com/office/drawing/2014/main" id="{BCA51F49-F380-4D0E-9DCF-BF636456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8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9" name="Google Shape;47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2e7cc283154b5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296380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4">
            <a:extLst xmlns:a="http://schemas.openxmlformats.org/drawingml/2006/main">
              <a:ext uri="{FF2B5EF4-FFF2-40B4-BE49-F238E27FC236}">
                <a16:creationId xmlns:a16="http://schemas.microsoft.com/office/drawing/2014/main" id="{A561E3F5-95B1-445D-9FEA-40A75913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28775"/>
            <a:ext cx="8439000" cy="80868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7E9F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Google Shape;54;p4">
            <a:extLst xmlns:a="http://schemas.openxmlformats.org/drawingml/2006/main">
              <a:ext uri="{FF2B5EF4-FFF2-40B4-BE49-F238E27FC236}">
                <a16:creationId xmlns:a16="http://schemas.microsoft.com/office/drawing/2014/main" id="{69EB0130-51FA-49A0-A929-529F18F8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285875"/>
            <a:ext cx="8439150" cy="4067175"/>
          </a:xfrm>
          <a:prstGeom xmlns:a="http://schemas.openxmlformats.org/drawingml/2006/main" prst="roundRect">
            <a:avLst>
              <a:gd name="adj" fmla="val 70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Google Shape;56;p4">
            <a:extLst xmlns:a="http://schemas.openxmlformats.org/drawingml/2006/main">
              <a:ext uri="{FF2B5EF4-FFF2-40B4-BE49-F238E27FC236}">
                <a16:creationId xmlns:a16="http://schemas.microsoft.com/office/drawing/2014/main" id="{FC69847B-79DE-499D-808E-7493DC2E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FASTAPI И ВЕБ-ИНТЕРФЕЙС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4">
            <a:extLst xmlns:a="http://schemas.openxmlformats.org/drawingml/2006/main">
              <a:ext uri="{FF2B5EF4-FFF2-40B4-BE49-F238E27FC236}">
                <a16:creationId xmlns:a16="http://schemas.microsoft.com/office/drawing/2014/main" id="{56B586D2-3DEF-44CC-A632-FD7FF5F9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7248600" cy="52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Пять обязательных эндпоинтов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1453B604-7ABC-4216-BE6E-C723C400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63" y="2775675"/>
            <a:ext cx="7248600" cy="646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GET / — главная HTML-страница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POST /upload — загрузка и индексация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POST /ask — вопрос и источники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GET /documents — список документов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DELETE /documents/{id} — полное удаление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Pydantic проверяет длину вопроса и top_k. Ошибки возвращаются осмысленными HTTP-кодами.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" name="Google Shape;59;p4">
            <a:extLst xmlns:a="http://schemas.openxmlformats.org/drawingml/2006/main">
              <a:ext uri="{FF2B5EF4-FFF2-40B4-BE49-F238E27FC236}">
                <a16:creationId xmlns:a16="http://schemas.microsoft.com/office/drawing/2014/main" id="{BF10E846-F8E4-4A38-96E9-9BBD54A7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9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69" name="Google Shape;60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9f430ccb3a404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69cdec12140b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9239250" y="1628775"/>
            <a:ext cx="8496300" cy="80867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360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C2A52C2F-1923-40DA-9C21-55CD0DBA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285875"/>
            <a:ext cx="8439150" cy="4067175"/>
          </a:xfrm>
          <a:prstGeom xmlns:a="http://schemas.openxmlformats.org/drawingml/2006/main" prst="roundRect">
            <a:avLst>
              <a:gd name="adj" fmla="val 70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E1C78A62-7254-48CA-B8F7-C9A4E571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ТЕСТЫ ПРОВЕРЯЮТ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ПОЛНЫЙ API-ЦИКЛ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410F0CE2-D481-428E-9536-24E18413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91475"/>
            <a:ext cx="9610725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TestClient проверяет главную страницу, загрузку, дубликат, вопрос с источником, список документов, удаление, повторное удаление, Pydantic-валидацию и ошибки форматов.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391027FE-C81D-44D4-BFED-FC3C617B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7848600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8FEB"/>
              </a:buClr>
              <a:buSzPts val="5625"/>
              <a:buFont typeface="Montserrat"/>
              <a:buNone/>
            </a:pPr>
            <a:r>
              <a:rPr sz="5625" b="1">
                <a:solidFill>
                  <a:srgbClr val="208FEB"/>
                </a:solidFill>
                <a:latin typeface="Montserrat"/>
                <a:ea typeface="Montserrat"/>
                <a:cs typeface="Montserrat"/>
              </a:rPr>
              <a:t>2/2</a:t>
            </a:r>
            <a:endParaRPr sz="562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13DCB5B9-0342-44D0-AFB9-9CE10E4C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8705850"/>
            <a:ext cx="2447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автоматических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теста пройдено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0938A56E-7B7A-4239-B511-4C87AE42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7848600"/>
            <a:ext cx="2457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8FEB"/>
              </a:buClr>
              <a:buSzPts val="5625"/>
              <a:buFont typeface="Montserrat"/>
              <a:buNone/>
            </a:pPr>
            <a:r>
              <a:rPr sz="5625" b="1">
                <a:solidFill>
                  <a:srgbClr val="208FEB"/>
                </a:solidFill>
                <a:latin typeface="Montserrat"/>
                <a:ea typeface="Montserrat"/>
                <a:cs typeface="Montserrat"/>
              </a:rPr>
              <a:t>0</a:t>
            </a:r>
            <a:endParaRPr sz="5625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Google Shape;87;p6">
            <a:extLst xmlns:a="http://schemas.openxmlformats.org/drawingml/2006/main">
              <a:ext uri="{FF2B5EF4-FFF2-40B4-BE49-F238E27FC236}">
                <a16:creationId xmlns:a16="http://schemas.microsoft.com/office/drawing/2014/main" id="{CA3108A3-E137-468E-93FE-1ACF0272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6675" y="8705850"/>
            <a:ext cx="2447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ошибок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79CB9"/>
              </a:buClr>
              <a:buSzPts val="1500"/>
              <a:buFont typeface="IBM Plex Sans"/>
              <a:buNone/>
            </a:pPr>
            <a:r>
              <a:rPr sz="1500">
                <a:solidFill>
                  <a:srgbClr val="979CB9"/>
                </a:solidFill>
                <a:latin typeface="IBM Plex Sans"/>
                <a:ea typeface="IBM Plex Sans"/>
                <a:cs typeface="IBM Plex Sans"/>
              </a:rPr>
              <a:t>в ноутбуке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8" name="Google Shape;88;p6">
            <a:extLst xmlns:a="http://schemas.openxmlformats.org/drawingml/2006/main">
              <a:ext uri="{FF2B5EF4-FFF2-40B4-BE49-F238E27FC236}">
                <a16:creationId xmlns:a16="http://schemas.microsoft.com/office/drawing/2014/main" id="{241AB1EC-12E9-4735-B2CA-CBDB6122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10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0" name="Google Shape;8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e592955056446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4386ab0af4bc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71500" y="2333625"/>
            <a:ext cx="17164050" cy="5095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4110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2">
            <a:extLst xmlns:a="http://schemas.openxmlformats.org/drawingml/2006/main">
              <a:ext uri="{FF2B5EF4-FFF2-40B4-BE49-F238E27FC236}">
                <a16:creationId xmlns:a16="http://schemas.microsoft.com/office/drawing/2014/main" id="{21D21FC4-FAB9-42A8-8756-98E25819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9000"/>
            <a:ext cx="8439000" cy="81765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7E9F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Google Shape;23;p2">
            <a:extLst xmlns:a="http://schemas.openxmlformats.org/drawingml/2006/main">
              <a:ext uri="{FF2B5EF4-FFF2-40B4-BE49-F238E27FC236}">
                <a16:creationId xmlns:a16="http://schemas.microsoft.com/office/drawing/2014/main" id="{74AB33B7-CB27-455F-9113-73C1C3AD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39125"/>
            <a:ext cx="8439000" cy="81765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7E9F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Google Shape;24;p2">
            <a:extLst xmlns:a="http://schemas.openxmlformats.org/drawingml/2006/main">
              <a:ext uri="{FF2B5EF4-FFF2-40B4-BE49-F238E27FC236}">
                <a16:creationId xmlns:a16="http://schemas.microsoft.com/office/drawing/2014/main" id="{D69C6936-BA4E-401C-8BFC-4C3FA296F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70389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ГРАНИЦЫ ПРОТОТИПА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Google Shape;25;p2">
            <a:extLst xmlns:a="http://schemas.openxmlformats.org/drawingml/2006/main">
              <a:ext uri="{FF2B5EF4-FFF2-40B4-BE49-F238E27FC236}">
                <a16:creationId xmlns:a16="http://schemas.microsoft.com/office/drawing/2014/main" id="{5814D32A-C61D-4305-AD3B-7FAEC26B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Ограничения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Google Shape;26;p2">
            <a:extLst xmlns:a="http://schemas.openxmlformats.org/drawingml/2006/main">
              <a:ext uri="{FF2B5EF4-FFF2-40B4-BE49-F238E27FC236}">
                <a16:creationId xmlns:a16="http://schemas.microsoft.com/office/drawing/2014/main" id="{9EB283F5-8D24-4436-B07B-56555AC5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38400"/>
            <a:ext cx="7248525" cy="565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Корпус пока состоит из двух документов.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OCR сканированных PDF не реализован.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Нет автоматической проверки редакции нормативного акта.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Индексация выполняется синхронно.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RAG снижает риск галлюцинаций, но не исключает его полностью.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Google Shape;27;p2">
            <a:extLst xmlns:a="http://schemas.openxmlformats.org/drawingml/2006/main">
              <a:ext uri="{FF2B5EF4-FFF2-40B4-BE49-F238E27FC236}">
                <a16:creationId xmlns:a16="http://schemas.microsoft.com/office/drawing/2014/main" id="{38D19F3E-41C3-406E-AA60-9C0B7ADA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628775"/>
            <a:ext cx="72485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3000"/>
              <a:buFont typeface="Montserrat SemiBold"/>
              <a:buNone/>
            </a:pPr>
            <a:r>
              <a:rPr sz="3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Следующий шаг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Google Shape;28;p2">
            <a:extLst xmlns:a="http://schemas.openxmlformats.org/drawingml/2006/main">
              <a:ext uri="{FF2B5EF4-FFF2-40B4-BE49-F238E27FC236}">
                <a16:creationId xmlns:a16="http://schemas.microsoft.com/office/drawing/2014/main" id="{2953B7B8-F540-4B95-B65C-3D1901D6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38400"/>
            <a:ext cx="7248525" cy="565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Добавить действующие законы, приказы и локальные акты.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Хранить дату редакции и период действия.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Подключить OCR, гибридный поиск и reranker.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Добавить авторизацию и разграничение доступа.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/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2250"/>
              <a:buFont typeface="IBM Plex Sans"/>
              <a:buNone/>
            </a:pPr>
            <a:r>
              <a:rPr sz="2250">
                <a:solidFill>
                  <a:srgbClr val="262525"/>
                </a:solidFill>
                <a:latin typeface="IBM Plex Sans"/>
                <a:ea typeface="IBM Plex Sans"/>
                <a:cs typeface="IBM Plex Sans"/>
              </a:rPr>
              <a:t>• Расширить тестовый набор до 50–100 вопросов.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" name="Google Shape;29;p2">
            <a:extLst xmlns:a="http://schemas.openxmlformats.org/drawingml/2006/main">
              <a:ext uri="{FF2B5EF4-FFF2-40B4-BE49-F238E27FC236}">
                <a16:creationId xmlns:a16="http://schemas.microsoft.com/office/drawing/2014/main" id="{BFFA7805-6796-4FDA-B56F-78A71EF3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0" y="9848850"/>
            <a:ext cx="35953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Montserrat"/>
              <a:buNone/>
            </a:pPr>
            <a:r>
              <a:rPr sz="1350">
                <a:solidFill>
                  <a:srgbClr val="000000"/>
                </a:solidFill>
                <a:latin typeface="Montserrat"/>
                <a:ea typeface="Montserrat"/>
                <a:cs typeface="Montserrat"/>
              </a:rPr>
              <a:t>11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9" name="Google Shape;30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5236f18b0b4d4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482150" y="178160"/>
            <a:ext cx="1215300" cy="12153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4131677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1">
            <a:extLst xmlns:a="http://schemas.openxmlformats.org/drawingml/2006/main">
              <a:ext uri="{FF2B5EF4-FFF2-40B4-BE49-F238E27FC236}">
                <a16:creationId xmlns:a16="http://schemas.microsoft.com/office/drawing/2014/main" id="{C68ABDAE-D664-4389-8CC3-266F2073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8439150" cy="9144000"/>
          </a:xfrm>
          <a:prstGeom xmlns:a="http://schemas.openxmlformats.org/drawingml/2006/main" prst="roundRect">
            <a:avLst>
              <a:gd name="adj" fmla="val 3386"/>
            </a:avLst>
          </a:prstGeom>
          <a:solidFill xmlns:a="http://schemas.openxmlformats.org/drawingml/2006/main">
            <a:srgbClr val="E7E9F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8" name="Google Shape;168;p11">
            <a:extLst xmlns:a="http://schemas.openxmlformats.org/drawingml/2006/main">
              <a:ext uri="{FF2B5EF4-FFF2-40B4-BE49-F238E27FC236}">
                <a16:creationId xmlns:a16="http://schemas.microsoft.com/office/drawing/2014/main" id="{D715C20E-656E-4163-8EF1-F2AA89B8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076325"/>
            <a:ext cx="6286500" cy="787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pic>
        <p:nvPicPr>
          <p:cNvPr id="174" name="Google Shape;169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e2874b8d994a9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296400" y="571500"/>
            <a:ext cx="8439150" cy="9144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0" name="Google Shape;170;p11">
            <a:extLst xmlns:a="http://schemas.openxmlformats.org/drawingml/2006/main">
              <a:ext uri="{FF2B5EF4-FFF2-40B4-BE49-F238E27FC236}">
                <a16:creationId xmlns:a16="http://schemas.microsoft.com/office/drawing/2014/main" id="{7F77E997-7C18-4685-A102-0AFD25C0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7124700"/>
            <a:ext cx="6448425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6000"/>
              <a:buFont typeface="Montserrat SemiBold"/>
              <a:buNone/>
            </a:pPr>
            <a:r>
              <a:rPr sz="6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СПАСИБО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525"/>
              </a:buClr>
              <a:buSzPts val="6000"/>
              <a:buFont typeface="Montserrat SemiBold"/>
              <a:buNone/>
            </a:pPr>
            <a:r>
              <a:rPr sz="6000">
                <a:solidFill>
                  <a:srgbClr val="262525"/>
                </a:solidFill>
                <a:latin typeface="Montserrat SemiBold"/>
                <a:ea typeface="Montserrat SemiBold"/>
                <a:cs typeface="Montserrat SemiBold"/>
              </a:rPr>
              <a:t>ЗА ВНИМАНИЕ</a:t>
            </a:r>
            <a:endParaRPr sz="60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380624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2026-09-01T01:19:34.8670000Z</dcterms:created>
  <dcterms:modified xsi:type="dcterms:W3CDTF">2026-09-01T01:19:34.8670000Z</dcterms:modified>
</coreProperties>
</file>