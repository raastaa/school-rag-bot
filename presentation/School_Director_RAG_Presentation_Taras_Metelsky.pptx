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4bc0838884ddc" /><Relationship Type="http://schemas.openxmlformats.org/officeDocument/2006/relationships/extended-properties" Target="/docProps/app.xml" Id="Rc8e3642b82af488b" /><Relationship Type="http://schemas.openxmlformats.org/officeDocument/2006/relationships/officeDocument" Target="/ppt/presentation.xml" Id="Ra61ecc7b229940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4794c0e02144c4"/>
  </p:sldMasterIdLst>
  <p:notesMasterIdLst>
    <p:notesMasterId xmlns:r="http://schemas.openxmlformats.org/officeDocument/2006/relationships" r:id="R44fffb4297784b9f"/>
  </p:notesMasterIdLst>
  <p:sldIdLst>
    <p:sldId xmlns:r="http://schemas.openxmlformats.org/officeDocument/2006/relationships" id="256" r:id="Rb7f823c3346f480a"/>
    <p:sldId xmlns:r="http://schemas.openxmlformats.org/officeDocument/2006/relationships" id="257" r:id="Rd9044b9e05d14291"/>
    <p:sldId xmlns:r="http://schemas.openxmlformats.org/officeDocument/2006/relationships" id="258" r:id="Rd55e2399f984431b"/>
    <p:sldId xmlns:r="http://schemas.openxmlformats.org/officeDocument/2006/relationships" id="259" r:id="R69259d3971f2425e"/>
    <p:sldId xmlns:r="http://schemas.openxmlformats.org/officeDocument/2006/relationships" id="260" r:id="R943d198c365b4423"/>
    <p:sldId xmlns:r="http://schemas.openxmlformats.org/officeDocument/2006/relationships" id="261" r:id="R7d4e41a3057a477f"/>
    <p:sldId xmlns:r="http://schemas.openxmlformats.org/officeDocument/2006/relationships" id="262" r:id="R5970e3f831134d4d"/>
    <p:sldId xmlns:r="http://schemas.openxmlformats.org/officeDocument/2006/relationships" id="263" r:id="R3d707dfc53cc473d"/>
    <p:sldId xmlns:r="http://schemas.openxmlformats.org/officeDocument/2006/relationships" id="264" r:id="R97ffc3cc77eb47fd"/>
    <p:sldId xmlns:r="http://schemas.openxmlformats.org/officeDocument/2006/relationships" id="265" r:id="Ra90aad096b3542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df56898f074930" /><Relationship Type="http://schemas.openxmlformats.org/officeDocument/2006/relationships/slideMaster" Target="/ppt/slideMasters/slideMaster1.xml" Id="R134794c0e02144c4" /><Relationship Type="http://schemas.openxmlformats.org/officeDocument/2006/relationships/notesMaster" Target="/ppt/notesMasters/notesMaster1.xml" Id="R44fffb4297784b9f" /><Relationship Type="http://schemas.openxmlformats.org/officeDocument/2006/relationships/presProps" Target="/ppt/presProps.xml" Id="Rdcf0971b410244f0" /><Relationship Type="http://schemas.openxmlformats.org/officeDocument/2006/relationships/tableStyles" Target="/ppt/tableStyles.xml" Id="R568ee2305c2f4ad0" /><Relationship Type="http://schemas.openxmlformats.org/officeDocument/2006/relationships/slide" Target="/ppt/slides/slide1.xml" Id="Rb7f823c3346f480a" /><Relationship Type="http://schemas.openxmlformats.org/officeDocument/2006/relationships/slide" Target="/ppt/slides/slide2.xml" Id="Rd9044b9e05d14291" /><Relationship Type="http://schemas.openxmlformats.org/officeDocument/2006/relationships/slide" Target="/ppt/slides/slide3.xml" Id="Rd55e2399f984431b" /><Relationship Type="http://schemas.openxmlformats.org/officeDocument/2006/relationships/slide" Target="/ppt/slides/slide4.xml" Id="R69259d3971f2425e" /><Relationship Type="http://schemas.openxmlformats.org/officeDocument/2006/relationships/slide" Target="/ppt/slides/slide5.xml" Id="R943d198c365b4423" /><Relationship Type="http://schemas.openxmlformats.org/officeDocument/2006/relationships/slide" Target="/ppt/slides/slide6.xml" Id="R7d4e41a3057a477f" /><Relationship Type="http://schemas.openxmlformats.org/officeDocument/2006/relationships/slide" Target="/ppt/slides/slide7.xml" Id="R5970e3f831134d4d" /><Relationship Type="http://schemas.openxmlformats.org/officeDocument/2006/relationships/slide" Target="/ppt/slides/slide8.xml" Id="R3d707dfc53cc473d" /><Relationship Type="http://schemas.openxmlformats.org/officeDocument/2006/relationships/slide" Target="/ppt/slides/slide9.xml" Id="R97ffc3cc77eb47fd" /><Relationship Type="http://schemas.openxmlformats.org/officeDocument/2006/relationships/slide" Target="/ppt/slides/slide10.xml" Id="Ra90aad096b3542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3ec117c1e141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83ce17449b4c0d" /><Relationship Type="http://schemas.openxmlformats.org/officeDocument/2006/relationships/notesMaster" Target="/ppt/notesMasters/notesMaster1.xml" Id="R0abafdb2b8d042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c953e3ea9d46d7" /><Relationship Type="http://schemas.openxmlformats.org/officeDocument/2006/relationships/notesMaster" Target="/ppt/notesMasters/notesMaster1.xml" Id="Ra3b512d8ed1e4e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6ec6373a5c488d" /><Relationship Type="http://schemas.openxmlformats.org/officeDocument/2006/relationships/notesMaster" Target="/ppt/notesMasters/notesMaster1.xml" Id="R53b817ddff144c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9529edb56a4765" /><Relationship Type="http://schemas.openxmlformats.org/officeDocument/2006/relationships/notesMaster" Target="/ppt/notesMasters/notesMaster1.xml" Id="R07c0cf52c40e4c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ed5f881a404309" /><Relationship Type="http://schemas.openxmlformats.org/officeDocument/2006/relationships/notesMaster" Target="/ppt/notesMasters/notesMaster1.xml" Id="Rc049acbdbc03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b4cf6f402d474d" /><Relationship Type="http://schemas.openxmlformats.org/officeDocument/2006/relationships/notesMaster" Target="/ppt/notesMasters/notesMaster1.xml" Id="Rdc668aad54674e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02eb86129d464d" /><Relationship Type="http://schemas.openxmlformats.org/officeDocument/2006/relationships/notesMaster" Target="/ppt/notesMasters/notesMaster1.xml" Id="Rbe7212d3f5f54a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dd1f3aee2b4eb5" /><Relationship Type="http://schemas.openxmlformats.org/officeDocument/2006/relationships/notesMaster" Target="/ppt/notesMasters/notesMaster1.xml" Id="R734aea1def6943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136761604b4e20" /><Relationship Type="http://schemas.openxmlformats.org/officeDocument/2006/relationships/notesMaster" Target="/ppt/notesMasters/notesMaster1.xml" Id="R1ff81f482d064d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783ccb7a5d4952" /><Relationship Type="http://schemas.openxmlformats.org/officeDocument/2006/relationships/notesMaster" Target="/ppt/notesMasters/notesMaster1.xml" Id="R33dfba3f4b9941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Авторская реализация проекта и интерфейса</a:t>
            </a:r>
          </a:p>
          <a:p xmlns:a="http://schemas.openxmlformats.org/drawingml/2006/main">
            <a:r>
              <a:t>- Официальная база: https://edsoo.ru/2024/01/22/nastolnaya-kniga-direktora-shkoly-novyj-format-podderzhki-upravlencheskih-kadrov-v-sisteme-obshhego-obrazovaniya/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Постановка задачи сформирована по требованиям домашнего задания</a:t>
            </a:r>
          </a:p>
          <a:p xmlns:a="http://schemas.openxmlformats.org/drawingml/2006/main">
            <a:r>
              <a:t>- Настольная книга директора: https://smp.edu.ru/kniga-direktora20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https://edsoo.ru/wp-content/uploads/2023/12/301-1432-01-znanie.pdf</a:t>
            </a:r>
          </a:p>
          <a:p xmlns:a="http://schemas.openxmlformats.org/drawingml/2006/main">
            <a:r>
              <a:t>- https://edsoo.ru/wp-content/uploads/2023/12/41-0708-01-zdorove.pdf</a:t>
            </a:r>
          </a:p>
          <a:p xmlns:a="http://schemas.openxmlformats.org/drawingml/2006/main">
            <a:r>
              <a:t>- Локальный результат индексации: school_director_rag/evaluation_results.json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Архитектура реализована в app/service.py, app/embeddings.py и app/llm.py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Реализация: app/document_processing.py и app/service.py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Полный системный промпт: app/llm.py</a:t>
            </a:r>
          </a:p>
          <a:p xmlns:a="http://schemas.openxmlformats.org/drawingml/2006/main">
            <a:r>
              <a:t>- Формат ответа: app/models.py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Эндпоинты: app/main.py</a:t>
            </a:r>
          </a:p>
          <a:p xmlns:a="http://schemas.openxmlformats.org/drawingml/2006/main">
            <a:r>
              <a:t>- Автоматические тесты: tests/test_api.py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Авторский HTML-интерфейс: templates/index.html</a:t>
            </a:r>
          </a:p>
          <a:p xmlns:a="http://schemas.openxmlformats.org/drawingml/2006/main">
            <a:r>
              <a:t>- Визуальная фиксация: presentation_build/ui_demo.png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Метрики: school_director_rag/embedding_benchmark_results.json</a:t>
            </a:r>
          </a:p>
          <a:p xmlns:a="http://schemas.openxmlformats.org/drawingml/2006/main">
            <a:r>
              <a:t>- Полный эксперимент: school_director_rag/embedding_benchmark.py</a:t>
            </a:r>
          </a:p>
          <a:p xmlns:a="http://schemas.openxmlformats.org/drawingml/2006/main">
            <a:r>
              <a:t>- Тестовый прогон: python -m pytest -q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Ограничения сформулированы по результатам реализации и проверки проекта</a:t>
            </a:r>
          </a:p>
          <a:p xmlns:a="http://schemas.openxmlformats.org/drawingml/2006/main">
            <a:r>
              <a:t>- Реестр рекомендуемых нормативных документов подготовлен в рабочем обсуждении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cb8936a1147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89d48cdad54541" /><Relationship Type="http://schemas.openxmlformats.org/officeDocument/2006/relationships/slideLayout" Target="/ppt/slideLayouts/slideLayout1.xml" Id="Rd89752c1ec0143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9752c1ec0143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892233bac433c" /><Relationship Type="http://schemas.openxmlformats.org/officeDocument/2006/relationships/image" Target="/ppt/media/image.png" Id="R05185a9503ac4d67" /><Relationship Type="http://schemas.openxmlformats.org/officeDocument/2006/relationships/notesSlide" Target="/ppt/notesSlides/notesSlide1.xml" Id="R3e0eba59dd6348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3d1943ff34347" /><Relationship Type="http://schemas.openxmlformats.org/officeDocument/2006/relationships/notesSlide" Target="/ppt/notesSlides/notesSlide2.xml" Id="R42db956307a34b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ff469ebe44acd" /><Relationship Type="http://schemas.openxmlformats.org/officeDocument/2006/relationships/chart" Target="/ppt/slides/charts/chart1.xml" Id="R84d508caec68498c" /><Relationship Type="http://schemas.openxmlformats.org/officeDocument/2006/relationships/notesSlide" Target="/ppt/notesSlides/notesSlide3.xml" Id="Rb61f2de0d0d742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568a998ad4d2f" /><Relationship Type="http://schemas.openxmlformats.org/officeDocument/2006/relationships/notesSlide" Target="/ppt/notesSlides/notesSlide4.xml" Id="Re659e998c30c4c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fbd1b75504ef9" /><Relationship Type="http://schemas.openxmlformats.org/officeDocument/2006/relationships/notesSlide" Target="/ppt/notesSlides/notesSlide5.xml" Id="R5eeff30ec78249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728a41626473a" /><Relationship Type="http://schemas.openxmlformats.org/officeDocument/2006/relationships/notesSlide" Target="/ppt/notesSlides/notesSlide6.xml" Id="R0dada49cb6fb42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d57d1affe4752" /><Relationship Type="http://schemas.openxmlformats.org/officeDocument/2006/relationships/notesSlide" Target="/ppt/notesSlides/notesSlide7.xml" Id="Rb6a595f5970d47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24198e4b24596" /><Relationship Type="http://schemas.openxmlformats.org/officeDocument/2006/relationships/image" Target="/ppt/media/image2.png" Id="R69e670b670384462" /><Relationship Type="http://schemas.openxmlformats.org/officeDocument/2006/relationships/notesSlide" Target="/ppt/notesSlides/notesSlide8.xml" Id="Rf8959d933ec44b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3d30fe0cd4a9b" /><Relationship Type="http://schemas.openxmlformats.org/officeDocument/2006/relationships/chart" Target="/ppt/slides/charts/chart2.xml" Id="R35b243819bb349f3" /><Relationship Type="http://schemas.openxmlformats.org/officeDocument/2006/relationships/notesSlide" Target="/ppt/notesSlides/notesSlide9.xml" Id="R21ab5c96fe9c4e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fc36ae6264b16" /><Relationship Type="http://schemas.openxmlformats.org/officeDocument/2006/relationships/notesSlide" Target="/ppt/notesSlides/notesSlide10.xml" Id="R2c3287da5dac4bf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Чанки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Знание</c:v>
              </c:pt>
              <c:pt idx="1">
                <c:v>Здоровье</c:v>
              </c:pt>
            </c:strLit>
          </c:cat>
          <c:val>
            <c:numLit>
              <c:formatCode>General</c:formatCode>
              <c:ptCount val="2"/>
              <c:pt idx="0">
                <c:v>303</c:v>
              </c:pt>
              <c:pt idx="1">
                <c:v>244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Hit@3, %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3"/>
              <c:pt idx="0">
                <c:v>all-MiniLM-L6-v2</c:v>
              </c:pt>
              <c:pt idx="1">
                <c:v>multilingual MiniLM</c:v>
              </c:pt>
              <c:pt idx="2">
                <c:v>multilingual-e5-small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70</c:v>
              </c:pt>
              <c:pt idx="2">
                <c:v>90</c:v>
              </c:pt>
            </c:numLit>
          </c:val>
        </c:ser>
        <c:ser>
          <c:idx val="1"/>
          <c:order val="1"/>
          <c:tx>
            <c:v>MRR, %</c:v>
          </c:tx>
          <c:spPr>
            <a:solidFill xmlns:a="http://schemas.openxmlformats.org/drawingml/2006/main">
              <a:srgbClr val="0F9D76"/>
            </a:solidFill>
          </c:spPr>
          <c:cat>
            <c:strLit>
              <c:ptCount val="3"/>
              <c:pt idx="0">
                <c:v>all-MiniLM-L6-v2</c:v>
              </c:pt>
              <c:pt idx="1">
                <c:v>multilingual MiniLM</c:v>
              </c:pt>
              <c:pt idx="2">
                <c:v>multilingual-e5-small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65</c:v>
              </c:pt>
              <c:pt idx="2">
                <c:v>85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5A096-CD00-4DE8-A15E-473608B7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ПРОЕКТНАЯ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A27E3-12B1-4C47-8A75-7C7C39F5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ИИ-помощник</a:t>
            </a:r>
          </a:p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директора школы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E2E91-6B4A-4545-9AD9-13F0203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RAG-сервис по нормативной и методической базе с проверяемыми источниками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5E0C1-1F70-4F52-857C-A3D07122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Метельский Тарас Леонидович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D0AAC-2E98-4D33-95F7-071FC04C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429250" cy="56007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85a9503ac4d67"/>
          <a:stretch xmlns:a="http://schemas.openxmlformats.org/drawingml/2006/main"/>
        </p:blipFill>
        <p:spPr>
          <a:xfrm xmlns:a="http://schemas.openxmlformats.org/drawingml/2006/main">
            <a:off x="6400800" y="1743670"/>
            <a:ext cx="5010150" cy="2818209"/>
          </a:xfrm>
          <a:prstGeom xmlns:a="http://schemas.openxmlformats.org/drawingml/2006/main" prst="roundRect">
            <a:avLst>
              <a:gd name="adj" fmla="val 237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C89C1-544B-4586-A0EE-FDBA31CE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721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D83"/>
                </a:solidFill>
                <a:latin typeface="Arial"/>
                <a:ea typeface="Arial"/>
                <a:cs typeface="Arial"/>
              </a:rPr>
              <a:t>ChromaDB · FastAPI · LLM</a:t>
            </a:r>
          </a:p>
        </p:txBody>
      </p:sp>
    </p:spTree>
    <p:extLst>
      <p:ext uri="{BB962C8B-B14F-4D97-AF65-F5344CB8AC3E}">
        <p14:creationId xmlns:p14="http://schemas.microsoft.com/office/powerpoint/2010/main" val="9914472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8CAB3-E8EF-49EC-A71C-E52D2568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Директору нужен проверяемый ответ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D4954-B46A-4098-8FE7-65B311AC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DCA85-0460-4548-A771-E48D9A0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Нормативные акты, методические письма и локальные документы распределены по разным источникам. Обычная LLM может дать убедительный, но неподтверждённый ответ.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687BE-5466-4D05-B0EC-929CDE28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32004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B6B6C-DC12-4730-A788-AE20A810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Много документов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72DB9-5C20-4A0B-A93C-B8CACA77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PDF и DOCX разного объёма, структуры и качества извлечения текста.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CC64F-9977-41D4-B7D9-5CB11F2C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32004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CA7E8-66AE-4768-819A-00C8ED06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D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D83"/>
                </a:solidFill>
                <a:latin typeface="Arial"/>
                <a:ea typeface="Arial"/>
                <a:cs typeface="Arial"/>
              </a:rPr>
              <a:t>Риск устаревания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EA9A4-6661-440C-AE26-889AE9E5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Методическая книга не заменяет действующую редакцию нормативного акта.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D57FC-0EC7-47E9-B388-6E1DBF0A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32004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BFBBB-054E-49AD-BBEF-05B552A7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Цена ошибки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03E73-6F41-48B8-834C-A4F2E841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Ответ должен показывать документ, страницу и использованный фрагмент.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3A564-2145-4F32-9096-265A8178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D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D83"/>
                </a:solidFill>
                <a:latin typeface="Arial"/>
                <a:ea typeface="Arial"/>
                <a:cs typeface="Arial"/>
              </a:rPr>
              <a:t>Задача проекта: ограничить ответ загруженной базой и вернуть доказательства вместе с результатом.</a:t>
            </a:r>
          </a:p>
        </p:txBody>
      </p:sp>
    </p:spTree>
    <p:extLst>
      <p:ext uri="{BB962C8B-B14F-4D97-AF65-F5344CB8AC3E}">
        <p14:creationId xmlns:p14="http://schemas.microsoft.com/office/powerpoint/2010/main" val="170198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F138C-0D58-4FE5-A86F-294AE972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Два тома дают 547 поисковых чанков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53E0B-04C4-496B-AEC6-85EB368D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355A0-4304-41A0-B9D0-A14FB71D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Тексты извлечены постранично и разбиты на фрагменты около 1000 символов с перекрытием 180 символов.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d508caec68498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81156-2F9E-439F-AB98-59DD674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000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997AB-5E49-47AC-9D2B-213B6143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050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E5C98-1CBD-4290-BD53-5AC2BCF8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5D922-9340-4F1E-A77A-437A911B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147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63D8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3D83"/>
                </a:solidFill>
                <a:latin typeface="Arial"/>
                <a:ea typeface="Arial"/>
                <a:cs typeface="Arial"/>
              </a:rPr>
              <a:t>547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D3A7D-F81F-4F3D-9D0B-90BB8CE9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57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векторных фрагментов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A18AC-8C3A-40BD-AC07-60C810E0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101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Метаданные каждого чанка: файл · страница · номер · document_id</a:t>
            </a:r>
          </a:p>
        </p:txBody>
      </p:sp>
    </p:spTree>
    <p:extLst>
      <p:ext uri="{BB962C8B-B14F-4D97-AF65-F5344CB8AC3E}">
        <p14:creationId xmlns:p14="http://schemas.microsoft.com/office/powerpoint/2010/main" val="1502941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923EA-9E93-449A-9334-8F104354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Пять компонентов RAG-системы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21BDE-FB43-4422-92A8-C4FB380D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095500" y="323850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4476750" y="323850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6858000" y="323850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9239250" y="323850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15FC4-7E4B-4AD4-92C6-9B7DC751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7650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A61B8-332B-4AEF-9047-3AF66C1E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479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21E2A-D0C7-487A-BF6C-8F87B89D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480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EB60C-2E2F-4E0C-A524-5703FA57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95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PDF · DOCX · TXT · 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414DF-7F21-4FB4-A831-BE1C515A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7650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FFD27-0DA2-4849-A1DD-D34651FF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479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FCF81-051E-4462-9E08-1D1E50EE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480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Чанкинг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B6AEA-0832-47AF-A696-0D8F9872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695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страница + overlap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DF75C-AF7A-4C09-AA8E-10CEFF59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7650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FC94D-3485-4377-89DE-64E01E7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479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F2C16-6EE0-49FC-954D-4EC8DE57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0480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Эмбеддинги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1C7BE-F8BE-44B1-A4B4-D4395510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95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выбранная E5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4F6B6-C57D-4D4B-8977-53924C8A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7B4C2-DC7C-4C98-8FA4-FD5859BA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479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0A93F-D7B4-4046-A0C6-556B4B64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0480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ChromaDB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329C0-CDDA-4A67-8840-04CC543E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695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cosine 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C6729-7683-4DA4-BF21-6AC8ABE3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7650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8FC57-ED3B-4EED-A1A2-B369D8F0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479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E644D-6DAD-4FE8-B077-3DB455F9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480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LLM + источники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F8D5C-1694-4CF8-A4E0-0C2EF438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695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строгий промпт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E5A5D-CD79-41BE-A881-4FE8672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3D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D83"/>
                </a:solidFill>
                <a:latin typeface="Arial"/>
                <a:ea typeface="Arial"/>
                <a:cs typeface="Arial"/>
              </a:rPr>
              <a:t>Поиск и генерация разделены: LLM получает только отобранные фрагменты, а API возвращает их отдельно от текста ответа.</a:t>
            </a:r>
          </a:p>
        </p:txBody>
      </p:sp>
    </p:spTree>
    <p:extLst>
      <p:ext uri="{BB962C8B-B14F-4D97-AF65-F5344CB8AC3E}">
        <p14:creationId xmlns:p14="http://schemas.microsoft.com/office/powerpoint/2010/main" val="725356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1D5C1-891B-4945-A625-89949B18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Индексация сохраняет контекст и метаданные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4B70F-922C-437D-8D5D-EA08BAE6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857250" y="319087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E595D-C490-451F-A17E-BDABA6FC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B9505-34A5-4412-BEF2-0D8C1F9F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5622-B65F-49EB-A419-99EF48B2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Извлечение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F2737-A172-4E05-B892-D94E8016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PyMuPDF сохраняет номер каждой PDF-страницы. DOCX, TXT, MD и CSV обрабатываются отдельными загрузчиками.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F8B07-6E23-498B-8EEA-DB3BA2B1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9FC33-5899-4323-B48D-6558E01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7A889-9D29-46F0-B91B-B73B70F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Смысловые чанки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D15C4-F6B3-4780-8D61-D2191A3F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Абзацы объединяются до 1000 символов; overlap 180 снижает потерю смысла на границе.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4BE3F-0A50-4AFB-852E-3B441F9B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8857D-0CAF-4EC6-93FD-1F17691A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E9D06-CFD3-40FA-9C0A-D3BDA11D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Запись в ChromaDB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95062-5CD4-4640-9E05-4F2E494F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С вектором хранятся filename, uploaded_at, document_id, page и chunk — основа проверяемых источников.</a:t>
            </a:r>
          </a:p>
        </p:txBody>
      </p:sp>
    </p:spTree>
    <p:extLst>
      <p:ext uri="{BB962C8B-B14F-4D97-AF65-F5344CB8AC3E}">
        <p14:creationId xmlns:p14="http://schemas.microsoft.com/office/powerpoint/2010/main" val="1221431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9327C-3E13-4AF7-9F53-A9802997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Ответ строится только по контексту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099B-5CB6-48D7-BCB3-DCFFB364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070EC-1034-4471-BCA7-37C98C71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50482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9DFD2-48ED-4617-930D-06C82392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Ключевые правила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0E4DB-DD34-4266-AA1D-FA47150A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286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1. Не добавлять сведения вне контекста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2. Не придумывать даты и номера статей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3. Разделять нормы и рекомендации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4. Указывать противоречия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5. При недостатке данных честно отказать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C0D89-E87E-4F12-B5B6-E8AD772C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Ответ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90F12-FC21-446F-93FB-039F8A64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5ADD9-1CD7-4C76-91AF-A3585FF1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Краткий ответ с маркерами [Источник N]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3695F-5053-45D4-8388-0E77C75A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sources[]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5A587-E8C0-4CAC-8776-495CCD06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Файл · страница · чанк · score · исходный текст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7E5E8-33DF-4CBC-B801-6AE2825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answer_status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65ACF-4578-4F21-9A6E-2860AB2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grounded / insufficient_context / conflicting_sources</a:t>
            </a:r>
          </a:p>
        </p:txBody>
      </p:sp>
    </p:spTree>
    <p:extLst>
      <p:ext uri="{BB962C8B-B14F-4D97-AF65-F5344CB8AC3E}">
        <p14:creationId xmlns:p14="http://schemas.microsoft.com/office/powerpoint/2010/main" val="6838363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CC258-3073-4F97-94A7-0525CF4F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 закрывает обязательные сценарии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E351E-0147-4B5E-B4AE-FF14E3C6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E8676-D77C-43D3-89BA-44CE5271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Валидация — Pydantic; ошибки — осмысленные HTTP-коды; удаление очищает и реестр, и векторы документа.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2762250"/>
                <a:gridCol w="4191000"/>
                <a:gridCol w="2286000"/>
              </a:tblGrid>
              <a:tr h="555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Метод</a:t>
                      </a:r>
                    </a:p>
                  </a:txBody>
                  <a:tcPr marL="76200" marR="76200" marT="76200" marB="762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Эндпоинт</a:t>
                      </a:r>
                    </a:p>
                  </a:txBody>
                  <a:tcPr marL="76200" marR="76200" marT="76200" marB="762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Назначение</a:t>
                      </a:r>
                    </a:p>
                  </a:txBody>
                  <a:tcPr marL="76200" marR="76200" marT="76200" marB="762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Проверка</a:t>
                      </a:r>
                    </a:p>
                  </a:txBody>
                  <a:tcPr marL="76200" marR="76200" marT="76200" marB="76200">
                    <a:solidFill>
                      <a:srgbClr val="11182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GET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/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HTML-интерфейс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200</a:t>
                      </a:r>
                    </a:p>
                  </a:txBody>
                  <a:tcPr marL="76200" marR="76200" marT="76200" marB="7620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POST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/upload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Загрузка и индексация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201 / 400 / 409 / 413</a:t>
                      </a:r>
                    </a:p>
                  </a:txBody>
                  <a:tcPr marL="76200" marR="76200" marT="76200" marB="7620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POST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/ask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Вопрос и источники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200 / 422 / 503</a:t>
                      </a:r>
                    </a:p>
                  </a:txBody>
                  <a:tcPr marL="76200" marR="76200" marT="76200" marB="7620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GET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/documents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Список документов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200</a:t>
                      </a:r>
                    </a:p>
                  </a:txBody>
                  <a:tcPr marL="76200" marR="76200" marT="76200" marB="7620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DELETE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/documents/{id}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Удаление документа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200 / 404</a:t>
                      </a: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E25EE-FFB4-4074-92FD-C00E582C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D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D83"/>
                </a:solidFill>
                <a:latin typeface="Arial"/>
                <a:ea typeface="Arial"/>
                <a:cs typeface="Arial"/>
              </a:rPr>
              <a:t>Дополнительно: GET /health и автоматическая Swagger-документация.</a:t>
            </a:r>
          </a:p>
        </p:txBody>
      </p:sp>
    </p:spTree>
    <p:extLst>
      <p:ext uri="{BB962C8B-B14F-4D97-AF65-F5344CB8AC3E}">
        <p14:creationId xmlns:p14="http://schemas.microsoft.com/office/powerpoint/2010/main" val="922037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B3FE0-79D9-4390-8518-843D3067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 экран показывает ответ и 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E3D48-81CB-4F0B-8236-74D2EB24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670b670384462"/>
          <a:stretch xmlns:a="http://schemas.openxmlformats.org/drawingml/2006/main"/>
        </p:blipFill>
        <p:spPr>
          <a:xfrm xmlns:a="http://schemas.openxmlformats.org/drawingml/2006/main">
            <a:off x="1524000" y="1095375"/>
            <a:ext cx="914400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8085046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700BF-5762-4D4D-8A16-DA96C97E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E5 лучше ищет по русским документам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96DF3-B04E-4E57-87B2-69F3FD8E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23597-1E39-49CD-A3F7-389265AB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Одинаковые 547 чанков · 10 вручную размеченных вопросов · top-3 поиск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809750"/>
          <a:ext xmlns:a="http://schemas.openxmlformats.org/drawingml/2006/main" cx="7239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b243819bb349f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86F71-F0F0-4BD9-B9CC-B6756A4C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3381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F3771-E11C-439D-B935-300DB5E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D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D83"/>
                </a:solidFill>
                <a:latin typeface="Arial"/>
                <a:ea typeface="Arial"/>
                <a:cs typeface="Arial"/>
              </a:rPr>
              <a:t>Выбрана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C64EA-3BF9-45D1-A3A5-5CDD14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multilingual-</a:t>
            </a:r>
          </a:p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e5-small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B8D04-B714-4C7B-9D93-7AAB3BF4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Hit@3  0,90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MRR      0,85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Запрос   18 мс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1121C-D155-4286-87B3-5A885B4C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9D7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9D76"/>
                </a:solidFill>
                <a:latin typeface="Arial"/>
                <a:ea typeface="Arial"/>
                <a:cs typeface="Arial"/>
              </a:rPr>
              <a:t>2/2 API-теста · 5 обязательных эндпоинтов · 0 ошибок в блокноте</a:t>
            </a:r>
          </a:p>
        </p:txBody>
      </p:sp>
    </p:spTree>
    <p:extLst>
      <p:ext uri="{BB962C8B-B14F-4D97-AF65-F5344CB8AC3E}">
        <p14:creationId xmlns:p14="http://schemas.microsoft.com/office/powerpoint/2010/main" val="1709448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B799C-8C0D-4124-9522-E750E03B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Прототип готов: границы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11CFA-0008-4D2E-8FFA-403358EB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C7EE5-97AF-4E97-BF1A-0D6A3FA6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AF672-A89A-40E6-ADCF-CA9466F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Работающий RAG-сервис с векторной БД, LLM-интеграцией, веб-интерфейсом и источниками.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716CC-3810-4F7F-9D96-DB97EF4A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6477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93218-2FF6-400D-9E51-1F69B197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1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Актуальность норм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39D04-EB5F-47C9-A2B1-7A1637D7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002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Нужно хранить дату редакции и срок действия каждого акта.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EC5AA-A20A-406D-8A7A-3B745516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477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457FD-6088-44F5-A29A-794EED2D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48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OCR сканов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6EF11-E5AA-468D-B778-F1B6322A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289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Изображения без текстового слоя требуют отдельного распознавания.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80CA3-9F58-427E-A921-ACB61F52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6477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E160A-4972-4BC9-A0B0-4BAB8F2D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7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Юридическая проверка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8332D-57A8-4AC4-AD71-07A583D6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577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Ответ помогает найти норму, но не заменяет решение ответственного специалиста.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12096-F6F8-4C30-8913-10C22C48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D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D83"/>
                </a:solidFill>
                <a:latin typeface="Arial"/>
                <a:ea typeface="Arial"/>
                <a:cs typeface="Arial"/>
              </a:rPr>
              <a:t>Следующий шаг — добавить полный нормативный корпус и автоматическое обновление редакций.</a:t>
            </a:r>
          </a:p>
        </p:txBody>
      </p:sp>
    </p:spTree>
    <p:extLst>
      <p:ext uri="{BB962C8B-B14F-4D97-AF65-F5344CB8AC3E}">
        <p14:creationId xmlns:p14="http://schemas.microsoft.com/office/powerpoint/2010/main" val="811364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2026-08-31T11:57:24.9590000Z</dcterms:created>
  <dcterms:modified xsi:type="dcterms:W3CDTF">2026-08-31T11:57:24.9590000Z</dcterms:modified>
</coreProperties>
</file>